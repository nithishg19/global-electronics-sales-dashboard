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216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4939257"/>
            <a:ext cx="5898630" cy="480373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" name="Picture Placeholder 10">
            <a:extLst>
              <a:ext uri="{FF2B5EF4-FFF2-40B4-BE49-F238E27FC236}">
                <a16:creationId xmlns:a16="http://schemas.microsoft.com/office/drawing/2014/main" id="{C58F7861-05FC-CC70-0C94-F3BAE39E54E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-1"/>
            <a:ext cx="12192000" cy="4784036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EC7B0B-C375-9D64-1424-3B07B71AF1F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205927" y="4939715"/>
            <a:ext cx="4420031" cy="479458"/>
          </a:xfrm>
        </p:spPr>
        <p:txBody>
          <a:bodyPr anchor="t"/>
          <a:lstStyle>
            <a:lvl1pPr>
              <a:defRPr sz="1400"/>
            </a:lvl1pPr>
          </a:lstStyle>
          <a:p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9117021-C08A-0E4F-5F64-FC1A870E481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762792" y="4939257"/>
            <a:ext cx="42920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9001D668-DD9C-F5B4-B191-51BDD0B3082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103035" y="5873424"/>
            <a:ext cx="1005840" cy="10058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009A08CF-24F0-EC7D-277D-CB831E7E79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9847" y="5718869"/>
            <a:ext cx="5916168" cy="1143000"/>
          </a:xfrm>
        </p:spPr>
        <p:txBody>
          <a:bodyPr anchor="b">
            <a:normAutofit/>
          </a:bodyPr>
          <a:lstStyle>
            <a:lvl1pPr>
              <a:lnSpc>
                <a:spcPct val="60000"/>
              </a:lnSpc>
              <a:defRPr sz="5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54111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B406F310-2B8D-3C32-560C-686817E6B4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6249" y="1012175"/>
            <a:ext cx="11113008" cy="84979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64FD1A6D-2D8E-1FD1-C1AC-CB5E9D5A15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42375" y="110364"/>
            <a:ext cx="527685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FADE430-EE65-B675-F031-7651DE9D69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7305BC9-1670-00D4-5A66-F52444DA9C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3959" y="104649"/>
            <a:ext cx="42920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496" y="2115542"/>
            <a:ext cx="11013670" cy="44515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3308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5457214"/>
            <a:ext cx="4206240" cy="1380744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096000" y="0"/>
            <a:ext cx="6096000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9134185-2980-312E-60AF-F360D16FB9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8288" y="81290"/>
            <a:ext cx="4654296" cy="373989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14099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" y="6174463"/>
            <a:ext cx="5891134" cy="654839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D29E0058-93A2-5291-6ACA-A0430862664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03035" y="5873424"/>
            <a:ext cx="1005840" cy="1005840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3F14EE-EFB3-D2DC-CEAA-621D666271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33E0DC-DE5C-286F-36BD-6985F4A6C3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207AF81-9CDB-689F-CE00-62257104EC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570B1373-40A5-190F-BE9F-8FC310F7B0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8288" y="2159632"/>
            <a:ext cx="9683496" cy="3776472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5827289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54E7A70C-B49B-5779-BA11-88AE4939E04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377355" y="83125"/>
            <a:ext cx="731520" cy="731520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68197F50-0DC4-261A-813C-264E7361D7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8288" y="2184032"/>
            <a:ext cx="8074152" cy="4718304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601883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8288" y="82296"/>
            <a:ext cx="8139659" cy="1554480"/>
          </a:xfrm>
        </p:spPr>
        <p:txBody>
          <a:bodyPr anchor="t">
            <a:norm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-1" y="1896472"/>
            <a:ext cx="8139660" cy="3557904"/>
          </a:xfrm>
        </p:spPr>
        <p:txBody>
          <a:bodyPr>
            <a:normAutofit/>
          </a:bodyPr>
          <a:lstStyle>
            <a:lvl1pPr marL="342900" indent="-342900">
              <a:buFont typeface="+mj-lt"/>
              <a:buAutoNum type="arabicPeriod"/>
              <a:defRPr sz="1400"/>
            </a:lvl1pPr>
            <a:lvl2pPr marL="571500" indent="-342900">
              <a:buFont typeface="+mj-lt"/>
              <a:buAutoNum type="arabicPeriod"/>
              <a:defRPr sz="1400"/>
            </a:lvl2pPr>
            <a:lvl3pPr marL="800100" indent="-342900">
              <a:buFont typeface="+mj-lt"/>
              <a:buAutoNum type="arabicPeriod"/>
              <a:defRPr sz="1400"/>
            </a:lvl3pPr>
            <a:lvl4pPr marL="1028700" indent="-342900">
              <a:buFont typeface="+mj-lt"/>
              <a:buAutoNum type="arabicPeriod"/>
              <a:defRPr sz="1400"/>
            </a:lvl4pPr>
            <a:lvl5pPr marL="1257300" indent="-342900">
              <a:buFont typeface="+mj-lt"/>
              <a:buAutoNum type="arabicPeriod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175C8E38-E957-9E3C-9A05-717C0F009AB9}"/>
              </a:ext>
            </a:extLst>
          </p:cNvPr>
          <p:cNvSpPr/>
          <p:nvPr/>
        </p:nvSpPr>
        <p:spPr>
          <a:xfrm>
            <a:off x="8552512" y="3218512"/>
            <a:ext cx="3557904" cy="3557904"/>
          </a:xfrm>
          <a:prstGeom prst="ellipse">
            <a:avLst/>
          </a:prstGeom>
          <a:noFill/>
          <a:ln w="158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1E193C2-09EC-BB41-5A34-007D34EB8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62793" y="100701"/>
            <a:ext cx="42920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21424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66396" y="621792"/>
            <a:ext cx="5386715" cy="1816898"/>
          </a:xfrm>
        </p:spPr>
        <p:txBody>
          <a:bodyPr anchor="t">
            <a:no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9AC20259-235D-F9C3-3788-C1457976F5A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5906642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90488" y="110364"/>
            <a:ext cx="5349239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62793" y="110364"/>
            <a:ext cx="42920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90488" y="2740228"/>
            <a:ext cx="5906642" cy="4096512"/>
          </a:xfrm>
        </p:spPr>
        <p:txBody>
          <a:bodyPr anchor="b">
            <a:normAutofit/>
          </a:bodyPr>
          <a:lstStyle>
            <a:lvl1pPr marL="342900" indent="-342900">
              <a:buFont typeface="+mj-lt"/>
              <a:buAutoNum type="arabicPeriod"/>
              <a:defRPr sz="1400"/>
            </a:lvl1pPr>
            <a:lvl2pPr marL="571500" indent="-342900">
              <a:buFont typeface="+mj-lt"/>
              <a:buAutoNum type="arabicPeriod"/>
              <a:defRPr sz="1400"/>
            </a:lvl2pPr>
            <a:lvl3pPr marL="800100" indent="-342900">
              <a:buFont typeface="+mj-lt"/>
              <a:buAutoNum type="arabicPeriod"/>
              <a:defRPr sz="1400"/>
            </a:lvl3pPr>
            <a:lvl4pPr marL="1028700" indent="-342900">
              <a:buFont typeface="+mj-lt"/>
              <a:buAutoNum type="arabicPeriod"/>
              <a:defRPr sz="1400"/>
            </a:lvl4pPr>
            <a:lvl5pPr marL="1257300" indent="-342900">
              <a:buFont typeface="+mj-lt"/>
              <a:buAutoNum type="arabicPeriod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06915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0178B15-836F-D50E-D616-40C9373248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645" y="987552"/>
            <a:ext cx="5366480" cy="4044508"/>
          </a:xfrm>
        </p:spPr>
        <p:txBody>
          <a:bodyPr>
            <a:norm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83A196D4-110B-6911-7AF5-9149D3FFF8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2150" y="100701"/>
            <a:ext cx="536648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A8D9253F-93F3-9EB9-BFA6-49C9461DE0D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190488" y="100701"/>
            <a:ext cx="2940449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B94C6C96-D651-5D6B-830B-07E5A3542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05731" y="100701"/>
            <a:ext cx="42920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90488" y="969264"/>
            <a:ext cx="5336753" cy="48180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89942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496" y="988979"/>
            <a:ext cx="3462878" cy="2942419"/>
          </a:xfrm>
        </p:spPr>
        <p:txBody>
          <a:bodyPr>
            <a:norm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A9910B-18FC-4A92-025A-A88AC7CD6B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2150" y="100701"/>
            <a:ext cx="3470224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752728-D41A-655E-871F-F76147E0E9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17167" y="100701"/>
            <a:ext cx="2940449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E07CC96-728B-298D-B2D6-54C4E9F0E9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05731" y="100701"/>
            <a:ext cx="42920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317167" y="967689"/>
            <a:ext cx="7217771" cy="52371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92937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B7D0064E-1F0E-2DDF-C6B5-9CE196C4B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5804" y="612140"/>
            <a:ext cx="6499655" cy="1519612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4804012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 lang="en-US" dirty="0"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7" name="Content Placeholder 7">
            <a:extLst>
              <a:ext uri="{FF2B5EF4-FFF2-40B4-BE49-F238E27FC236}">
                <a16:creationId xmlns:a16="http://schemas.microsoft.com/office/drawing/2014/main" id="{D478DAE4-13AB-5772-07E6-B3264F1E314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04122" y="2457406"/>
            <a:ext cx="6441338" cy="3778977"/>
          </a:xfrm>
        </p:spPr>
        <p:txBody>
          <a:bodyPr anchor="t"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65BFCB1-FAA8-D03A-3B62-DCB2CF1CA11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104122" y="6452990"/>
            <a:ext cx="1968375" cy="365125"/>
          </a:xfrm>
        </p:spPr>
        <p:txBody>
          <a:bodyPr anchor="b"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A608994-46CD-AAE0-DCC4-A59D26254D8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16252" y="6452989"/>
            <a:ext cx="429207" cy="365125"/>
          </a:xfrm>
        </p:spPr>
        <p:txBody>
          <a:bodyPr anchor="b"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25257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3CDF6858-35EF-4C90-B3F5-339B7EF1F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81793" y="621792"/>
            <a:ext cx="7252710" cy="1138769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4023360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6" name="Content Placeholder 7">
            <a:extLst>
              <a:ext uri="{FF2B5EF4-FFF2-40B4-BE49-F238E27FC236}">
                <a16:creationId xmlns:a16="http://schemas.microsoft.com/office/drawing/2014/main" id="{72FCF01F-6AD4-FD29-865E-65BD55CF89D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309088" y="2115404"/>
            <a:ext cx="7225415" cy="4212926"/>
          </a:xfrm>
        </p:spPr>
        <p:txBody>
          <a:bodyPr anchor="t" anchorCtr="0"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Footer Placeholder 8">
            <a:extLst>
              <a:ext uri="{FF2B5EF4-FFF2-40B4-BE49-F238E27FC236}">
                <a16:creationId xmlns:a16="http://schemas.microsoft.com/office/drawing/2014/main" id="{4F9B8FC8-8820-A655-2A18-E8F8FC2C72D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281793" y="6492875"/>
            <a:ext cx="1968375" cy="365125"/>
          </a:xfrm>
        </p:spPr>
        <p:txBody>
          <a:bodyPr anchor="b"/>
          <a:lstStyle/>
          <a:p>
            <a:endParaRPr lang="en-US"/>
          </a:p>
        </p:txBody>
      </p:sp>
      <p:sp>
        <p:nvSpPr>
          <p:cNvPr id="13" name="Date Placeholder 2">
            <a:extLst>
              <a:ext uri="{FF2B5EF4-FFF2-40B4-BE49-F238E27FC236}">
                <a16:creationId xmlns:a16="http://schemas.microsoft.com/office/drawing/2014/main" id="{A8C032E2-BBA3-EA74-8FE1-5AFC46A21AE1}"/>
              </a:ext>
            </a:extLst>
          </p:cNvPr>
          <p:cNvSpPr>
            <a:spLocks noGrp="1"/>
          </p:cNvSpPr>
          <p:nvPr>
            <p:ph type="dt" sz="half" idx="18"/>
          </p:nvPr>
        </p:nvSpPr>
        <p:spPr>
          <a:xfrm>
            <a:off x="9023903" y="6492875"/>
            <a:ext cx="1596200" cy="365125"/>
          </a:xfrm>
        </p:spPr>
        <p:txBody>
          <a:bodyPr anchor="b"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12" name="Slide Number Placeholder 9">
            <a:extLst>
              <a:ext uri="{FF2B5EF4-FFF2-40B4-BE49-F238E27FC236}">
                <a16:creationId xmlns:a16="http://schemas.microsoft.com/office/drawing/2014/main" id="{D28087CA-07B9-D0D2-3AA7-C34B5C9645B8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05296" y="6492875"/>
            <a:ext cx="429207" cy="365125"/>
          </a:xfrm>
        </p:spPr>
        <p:txBody>
          <a:bodyPr anchor="b"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551297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5">
            <a:extLst>
              <a:ext uri="{FF2B5EF4-FFF2-40B4-BE49-F238E27FC236}">
                <a16:creationId xmlns:a16="http://schemas.microsoft.com/office/drawing/2014/main" id="{7A932ED1-5750-0D24-8D58-961B6F20FA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2307" y="621792"/>
            <a:ext cx="7252710" cy="113876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Content Placeholder 7">
            <a:extLst>
              <a:ext uri="{FF2B5EF4-FFF2-40B4-BE49-F238E27FC236}">
                <a16:creationId xmlns:a16="http://schemas.microsoft.com/office/drawing/2014/main" id="{01598DB3-17DB-7EDD-0F42-9866A753C2DD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569602" y="2115404"/>
            <a:ext cx="7225415" cy="4212926"/>
          </a:xfrm>
        </p:spPr>
        <p:txBody>
          <a:bodyPr anchor="t" anchorCtr="0"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Picture Placeholder 10">
            <a:extLst>
              <a:ext uri="{FF2B5EF4-FFF2-40B4-BE49-F238E27FC236}">
                <a16:creationId xmlns:a16="http://schemas.microsoft.com/office/drawing/2014/main" id="{6C5AB1A9-786B-C92B-C6EA-63CE0AACFB1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168640" y="1"/>
            <a:ext cx="4023360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C6115057-015C-DC83-074A-D22D9E0B6CD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42307" y="6492875"/>
            <a:ext cx="196837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8" name="Date Placeholder 1">
            <a:extLst>
              <a:ext uri="{FF2B5EF4-FFF2-40B4-BE49-F238E27FC236}">
                <a16:creationId xmlns:a16="http://schemas.microsoft.com/office/drawing/2014/main" id="{42028964-5597-F5F0-6AEA-C79255C9BCE9}"/>
              </a:ext>
            </a:extLst>
          </p:cNvPr>
          <p:cNvSpPr>
            <a:spLocks noGrp="1"/>
          </p:cNvSpPr>
          <p:nvPr>
            <p:ph type="dt" sz="half" idx="18"/>
          </p:nvPr>
        </p:nvSpPr>
        <p:spPr>
          <a:xfrm>
            <a:off x="5284417" y="6492875"/>
            <a:ext cx="15962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B6324527-5F82-8213-FFB9-A5E6BEB2314F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7365810" y="6492875"/>
            <a:ext cx="42920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662427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B15000-16D8-B5F1-E35B-BAE97B4E6E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615" y="621793"/>
            <a:ext cx="5326684" cy="1507454"/>
          </a:xfrm>
        </p:spPr>
        <p:txBody>
          <a:bodyPr anchor="t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7">
            <a:extLst>
              <a:ext uri="{FF2B5EF4-FFF2-40B4-BE49-F238E27FC236}">
                <a16:creationId xmlns:a16="http://schemas.microsoft.com/office/drawing/2014/main" id="{B022A1E6-0A6D-9476-5034-0BDE3EE38B91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518616" y="2513110"/>
            <a:ext cx="5326683" cy="3568006"/>
          </a:xfrm>
        </p:spPr>
        <p:txBody>
          <a:bodyPr anchor="t" anchorCtr="0"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Picture Placeholder 7">
            <a:extLst>
              <a:ext uri="{FF2B5EF4-FFF2-40B4-BE49-F238E27FC236}">
                <a16:creationId xmlns:a16="http://schemas.microsoft.com/office/drawing/2014/main" id="{6B8D4096-4B0D-5226-C004-475A83BE8BFE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6308842" y="0"/>
            <a:ext cx="5883158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917C8CF-AEBF-835D-4503-06A0208049F0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18615" y="6450237"/>
            <a:ext cx="1968375" cy="365125"/>
          </a:xfrm>
        </p:spPr>
        <p:txBody>
          <a:bodyPr anchor="b"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3662962-C2D0-E99D-BD6A-C97F4798F26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5453953" y="6464979"/>
            <a:ext cx="429207" cy="365125"/>
          </a:xfrm>
        </p:spPr>
        <p:txBody>
          <a:bodyPr anchor="b"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185566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98B87BE0-867D-AF74-02DD-6F5420BC6D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965" y="621792"/>
            <a:ext cx="4446871" cy="1867629"/>
          </a:xfrm>
        </p:spPr>
        <p:txBody>
          <a:bodyPr anchor="t">
            <a:no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Content Placeholder 7">
            <a:extLst>
              <a:ext uri="{FF2B5EF4-FFF2-40B4-BE49-F238E27FC236}">
                <a16:creationId xmlns:a16="http://schemas.microsoft.com/office/drawing/2014/main" id="{7B86FDEC-359F-20D5-12F6-5CBA3DC009E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43940" y="2890729"/>
            <a:ext cx="4449227" cy="3138438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Picture Placeholder 10">
            <a:extLst>
              <a:ext uri="{FF2B5EF4-FFF2-40B4-BE49-F238E27FC236}">
                <a16:creationId xmlns:a16="http://schemas.microsoft.com/office/drawing/2014/main" id="{FBEF9CB2-E8D7-8869-9B11-C58F1606DFE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363570" y="0"/>
            <a:ext cx="6828430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10" name="Footer Placeholder 8">
            <a:extLst>
              <a:ext uri="{FF2B5EF4-FFF2-40B4-BE49-F238E27FC236}">
                <a16:creationId xmlns:a16="http://schemas.microsoft.com/office/drawing/2014/main" id="{4784CE43-81E9-3B12-CB65-9B5FC6ECE9ED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15618" y="6430476"/>
            <a:ext cx="1968375" cy="379867"/>
          </a:xfrm>
        </p:spPr>
        <p:txBody>
          <a:bodyPr anchor="b"/>
          <a:lstStyle/>
          <a:p>
            <a:endParaRPr lang="en-US"/>
          </a:p>
        </p:txBody>
      </p:sp>
      <p:sp>
        <p:nvSpPr>
          <p:cNvPr id="11" name="Slide Number Placeholder 9">
            <a:extLst>
              <a:ext uri="{FF2B5EF4-FFF2-40B4-BE49-F238E27FC236}">
                <a16:creationId xmlns:a16="http://schemas.microsoft.com/office/drawing/2014/main" id="{779F1775-5104-9F86-4A61-07F914947CC9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4563960" y="6430476"/>
            <a:ext cx="429207" cy="379867"/>
          </a:xfrm>
        </p:spPr>
        <p:txBody>
          <a:bodyPr anchor="b"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248047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49733" y="621792"/>
            <a:ext cx="3884546" cy="2280501"/>
          </a:xfrm>
        </p:spPr>
        <p:txBody>
          <a:bodyPr anchor="t">
            <a:no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10">
            <a:extLst>
              <a:ext uri="{FF2B5EF4-FFF2-40B4-BE49-F238E27FC236}">
                <a16:creationId xmlns:a16="http://schemas.microsoft.com/office/drawing/2014/main" id="{74736F65-8A7D-D535-AAD0-31480F8AD31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7260609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687521" y="3211512"/>
            <a:ext cx="3884547" cy="2743200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8">
            <a:extLst>
              <a:ext uri="{FF2B5EF4-FFF2-40B4-BE49-F238E27FC236}">
                <a16:creationId xmlns:a16="http://schemas.microsoft.com/office/drawing/2014/main" id="{C64245F1-97E2-FD23-26A5-03067F464698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7649733" y="6456384"/>
            <a:ext cx="1968375" cy="379867"/>
          </a:xfrm>
        </p:spPr>
        <p:txBody>
          <a:bodyPr anchor="b"/>
          <a:lstStyle/>
          <a:p>
            <a:endParaRPr lang="en-US"/>
          </a:p>
        </p:txBody>
      </p:sp>
      <p:sp>
        <p:nvSpPr>
          <p:cNvPr id="5" name="Slide Number Placeholder 9">
            <a:extLst>
              <a:ext uri="{FF2B5EF4-FFF2-40B4-BE49-F238E27FC236}">
                <a16:creationId xmlns:a16="http://schemas.microsoft.com/office/drawing/2014/main" id="{15E75D5B-F407-F4DD-192B-D56CF168CDA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34152" y="6456385"/>
            <a:ext cx="429207" cy="379867"/>
          </a:xfrm>
        </p:spPr>
        <p:txBody>
          <a:bodyPr anchor="b"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268659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DB686070-85E7-EB57-8965-F95F2692CC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2064" y="3608276"/>
            <a:ext cx="4428700" cy="2620587"/>
          </a:xfrm>
        </p:spPr>
        <p:txBody>
          <a:bodyPr anchor="t">
            <a:no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12192000" cy="3429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4546533B-13A8-961D-BD05-8DE715F6340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268036" y="3579702"/>
            <a:ext cx="6298442" cy="2620587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8">
            <a:extLst>
              <a:ext uri="{FF2B5EF4-FFF2-40B4-BE49-F238E27FC236}">
                <a16:creationId xmlns:a16="http://schemas.microsoft.com/office/drawing/2014/main" id="{9349FD65-108E-79AD-A9C8-91429963386F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262666" y="6442872"/>
            <a:ext cx="1968375" cy="379867"/>
          </a:xfrm>
        </p:spPr>
        <p:txBody>
          <a:bodyPr anchor="b"/>
          <a:lstStyle/>
          <a:p>
            <a:endParaRPr lang="en-US"/>
          </a:p>
        </p:txBody>
      </p:sp>
      <p:sp>
        <p:nvSpPr>
          <p:cNvPr id="12" name="Date Placeholder 2">
            <a:extLst>
              <a:ext uri="{FF2B5EF4-FFF2-40B4-BE49-F238E27FC236}">
                <a16:creationId xmlns:a16="http://schemas.microsoft.com/office/drawing/2014/main" id="{547B7542-C2BA-4322-9FF4-E2713B917492}"/>
              </a:ext>
            </a:extLst>
          </p:cNvPr>
          <p:cNvSpPr>
            <a:spLocks noGrp="1"/>
          </p:cNvSpPr>
          <p:nvPr>
            <p:ph type="dt" sz="half" idx="18"/>
          </p:nvPr>
        </p:nvSpPr>
        <p:spPr>
          <a:xfrm>
            <a:off x="7697040" y="6442872"/>
            <a:ext cx="2295997" cy="379867"/>
          </a:xfrm>
        </p:spPr>
        <p:txBody>
          <a:bodyPr anchor="b"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7" name="Slide Number Placeholder 9">
            <a:extLst>
              <a:ext uri="{FF2B5EF4-FFF2-40B4-BE49-F238E27FC236}">
                <a16:creationId xmlns:a16="http://schemas.microsoft.com/office/drawing/2014/main" id="{EB058DA4-9F6F-CC80-D1C5-728E096806C3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37271" y="6442873"/>
            <a:ext cx="429207" cy="379867"/>
          </a:xfrm>
        </p:spPr>
        <p:txBody>
          <a:bodyPr anchor="b"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054368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EB0F469B-7972-C862-3265-20EC44D749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2064" y="631710"/>
            <a:ext cx="11032239" cy="1115203"/>
          </a:xfrm>
        </p:spPr>
        <p:txBody>
          <a:bodyPr anchor="t">
            <a:no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Picture Placeholder 10">
            <a:extLst>
              <a:ext uri="{FF2B5EF4-FFF2-40B4-BE49-F238E27FC236}">
                <a16:creationId xmlns:a16="http://schemas.microsoft.com/office/drawing/2014/main" id="{1A9091ED-65DB-CA4C-BC68-EC773138EFA0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109181" y="2115403"/>
            <a:ext cx="5786651" cy="4671431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10" name="Content Placeholder 7">
            <a:extLst>
              <a:ext uri="{FF2B5EF4-FFF2-40B4-BE49-F238E27FC236}">
                <a16:creationId xmlns:a16="http://schemas.microsoft.com/office/drawing/2014/main" id="{A3F07A79-5344-FA17-3625-1266EFAA87FD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90488" y="2115403"/>
            <a:ext cx="5353815" cy="4110888"/>
          </a:xfrm>
        </p:spPr>
        <p:txBody>
          <a:bodyPr anchor="t">
            <a:no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685800" indent="0">
              <a:buFont typeface="Arial" panose="020B0604020202020204" pitchFamily="34" charset="0"/>
              <a:buNone/>
              <a:defRPr sz="1400"/>
            </a:lvl4pPr>
            <a:lvl5pPr marL="914400" indent="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AC0D704B-E4D2-B261-890F-35C54C94C6EE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6177425" y="6428984"/>
            <a:ext cx="4467829" cy="365125"/>
          </a:xfrm>
        </p:spPr>
        <p:txBody>
          <a:bodyPr anchor="b"/>
          <a:lstStyle/>
          <a:p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C5932FFD-B632-F7EE-B653-9A621348C003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>
          <a:xfrm>
            <a:off x="10926847" y="6421709"/>
            <a:ext cx="617457" cy="365125"/>
          </a:xfrm>
        </p:spPr>
        <p:txBody>
          <a:bodyPr anchor="b"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131814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1348" y="644000"/>
            <a:ext cx="2594550" cy="1877132"/>
          </a:xfrm>
        </p:spPr>
        <p:txBody>
          <a:bodyPr anchor="t" anchorCtr="0">
            <a:no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06740" y="2899954"/>
            <a:ext cx="3610418" cy="3314046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02183" y="644000"/>
            <a:ext cx="7183078" cy="5570000"/>
          </a:xfrm>
        </p:spPr>
        <p:txBody>
          <a:bodyPr anchor="b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Footer Placeholder 6">
            <a:extLst>
              <a:ext uri="{FF2B5EF4-FFF2-40B4-BE49-F238E27FC236}">
                <a16:creationId xmlns:a16="http://schemas.microsoft.com/office/drawing/2014/main" id="{E471EB04-B63C-4629-0688-E2CC8C576A5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45926" y="6438284"/>
            <a:ext cx="5276852" cy="365125"/>
          </a:xfrm>
        </p:spPr>
        <p:txBody>
          <a:bodyPr anchor="b"/>
          <a:lstStyle/>
          <a:p>
            <a:endParaRPr lang="en-US"/>
          </a:p>
        </p:txBody>
      </p:sp>
      <p:sp>
        <p:nvSpPr>
          <p:cNvPr id="12" name="Date Placeholder 5">
            <a:extLst>
              <a:ext uri="{FF2B5EF4-FFF2-40B4-BE49-F238E27FC236}">
                <a16:creationId xmlns:a16="http://schemas.microsoft.com/office/drawing/2014/main" id="{A4924D77-E18C-D84A-F550-9B0188FEBF8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6190488" y="6432496"/>
            <a:ext cx="2544079" cy="365125"/>
          </a:xfrm>
        </p:spPr>
        <p:txBody>
          <a:bodyPr anchor="b"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14" name="Slide Number Placeholder 8">
            <a:extLst>
              <a:ext uri="{FF2B5EF4-FFF2-40B4-BE49-F238E27FC236}">
                <a16:creationId xmlns:a16="http://schemas.microsoft.com/office/drawing/2014/main" id="{38B4B455-40D3-EF76-D860-2A6FFBF69836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099128" y="6438284"/>
            <a:ext cx="429207" cy="365125"/>
          </a:xfrm>
        </p:spPr>
        <p:txBody>
          <a:bodyPr anchor="b"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937159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5504688"/>
            <a:ext cx="5902657" cy="1353312"/>
          </a:xfrm>
        </p:spPr>
        <p:txBody>
          <a:bodyPr anchor="b">
            <a:normAutofit/>
          </a:bodyPr>
          <a:lstStyle>
            <a:lvl1pPr>
              <a:lnSpc>
                <a:spcPct val="120000"/>
              </a:lnSpc>
              <a:defRPr sz="2000" b="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-54591" y="-156950"/>
            <a:ext cx="5957248" cy="4510586"/>
          </a:xfrm>
        </p:spPr>
        <p:txBody>
          <a:bodyPr anchor="t">
            <a:norm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15000" b="0" i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BB98C21E-A9AF-D3FB-3F6A-06088553C6F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10101" y="5852160"/>
            <a:ext cx="1005840" cy="1005840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62793" y="100701"/>
            <a:ext cx="42920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085343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00584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832976E3-E745-9DF8-C3E3-53A778D9502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96453" y="5852160"/>
            <a:ext cx="1005840" cy="1005840"/>
          </a:xfrm>
          <a:prstGeom prst="rect">
            <a:avLst/>
          </a:prstGeom>
        </p:spPr>
      </p:pic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6F777942-A24A-16CB-2115-A16E397BBB0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91D0C3F1-69CA-2A45-33F7-9AF4B8FFEDBC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8DB65802-3866-05DF-F96B-15A117F7C76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-17470" y="1016759"/>
            <a:ext cx="10082693" cy="5841242"/>
          </a:xfrm>
        </p:spPr>
        <p:txBody>
          <a:bodyPr anchor="b" anchorCtr="0">
            <a:noAutofit/>
          </a:bodyPr>
          <a:lstStyle>
            <a:lvl1pPr marL="0" indent="0">
              <a:lnSpc>
                <a:spcPct val="80000"/>
              </a:lnSpc>
              <a:buNone/>
              <a:defRPr sz="5600" b="0" spc="-200" baseline="0"/>
            </a:lvl1pPr>
            <a:lvl2pPr marL="228600" indent="0">
              <a:lnSpc>
                <a:spcPct val="80000"/>
              </a:lnSpc>
              <a:buNone/>
              <a:defRPr sz="5600" b="0" spc="-200" baseline="0"/>
            </a:lvl2pPr>
            <a:lvl3pPr marL="457200" indent="0">
              <a:lnSpc>
                <a:spcPct val="80000"/>
              </a:lnSpc>
              <a:buNone/>
              <a:defRPr sz="5600" b="0" spc="-200" baseline="0"/>
            </a:lvl3pPr>
            <a:lvl4pPr marL="685800" indent="0">
              <a:lnSpc>
                <a:spcPct val="80000"/>
              </a:lnSpc>
              <a:buNone/>
              <a:defRPr sz="5600" b="0" spc="-200" baseline="0"/>
            </a:lvl4pPr>
            <a:lvl5pPr marL="914400" indent="0">
              <a:lnSpc>
                <a:spcPct val="80000"/>
              </a:lnSpc>
              <a:buNone/>
              <a:defRPr sz="5600" b="0" spc="-200" baseline="0"/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4940574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5DC095FD-8C32-C2DB-3F1D-105AFD1518B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83347" y="5852160"/>
            <a:ext cx="1005840" cy="1005840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CA0FBB42-F049-CCA6-45E1-D60DC58A76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-1" y="5899926"/>
            <a:ext cx="5902657" cy="958073"/>
          </a:xfr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20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5" name="Content Placeholder 6">
            <a:extLst>
              <a:ext uri="{FF2B5EF4-FFF2-40B4-BE49-F238E27FC236}">
                <a16:creationId xmlns:a16="http://schemas.microsoft.com/office/drawing/2014/main" id="{2B5E50A9-B175-CA38-A22A-468AE7533B5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-18288" y="95534"/>
            <a:ext cx="8961120" cy="4476466"/>
          </a:xfrm>
        </p:spPr>
        <p:txBody>
          <a:bodyPr anchor="t">
            <a:normAutofit/>
          </a:bodyPr>
          <a:lstStyle>
            <a:lvl1pPr marL="164592" indent="-164592">
              <a:lnSpc>
                <a:spcPct val="80000"/>
              </a:lnSpc>
              <a:spcBef>
                <a:spcPts val="0"/>
              </a:spcBef>
              <a:buNone/>
              <a:defRPr sz="5600" spc="-2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8" name="Slide Number Placeholder 9">
            <a:extLst>
              <a:ext uri="{FF2B5EF4-FFF2-40B4-BE49-F238E27FC236}">
                <a16:creationId xmlns:a16="http://schemas.microsoft.com/office/drawing/2014/main" id="{84D7E47A-F89A-8F43-C300-185AD1461C0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762793" y="110364"/>
            <a:ext cx="42920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Footer Placeholder 3">
            <a:extLst>
              <a:ext uri="{FF2B5EF4-FFF2-40B4-BE49-F238E27FC236}">
                <a16:creationId xmlns:a16="http://schemas.microsoft.com/office/drawing/2014/main" id="{1CA01B7F-0CDC-9F0A-6B3B-A87674D14D6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6193030" y="6392564"/>
            <a:ext cx="3104866" cy="365125"/>
          </a:xfrm>
        </p:spPr>
        <p:txBody>
          <a:bodyPr anchor="b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543113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2A74F0-5415-CAD7-98B3-4A75913F44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2064" y="987552"/>
            <a:ext cx="3465576" cy="294436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151E178-0505-15CE-6ACB-7BE1FB1E52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0353" y="110364"/>
            <a:ext cx="347472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B82246E-2BFA-5BAA-F22D-A2618C05A0B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15968" y="104576"/>
            <a:ext cx="4836883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4BA02B-433E-FB95-6E96-11393CDBD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F74B4B98-ABA0-9FD3-485A-984EDEEB4469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4315966" y="987552"/>
            <a:ext cx="7446825" cy="25603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Content Placeholder 9">
            <a:extLst>
              <a:ext uri="{FF2B5EF4-FFF2-40B4-BE49-F238E27FC236}">
                <a16:creationId xmlns:a16="http://schemas.microsoft.com/office/drawing/2014/main" id="{3822067E-4B47-03C7-3636-0C6F8324E1E9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315967" y="3931920"/>
            <a:ext cx="7446824" cy="25603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23776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EF29C1-2D4D-0529-EAD3-926838F41B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2064" y="630936"/>
            <a:ext cx="11018520" cy="10883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A6A1D5A-FFC5-5F10-90D2-A3FBCC3129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0352" y="110364"/>
            <a:ext cx="527685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E1BD63D-FC9C-D946-5560-869AEDE315E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190488" y="104576"/>
            <a:ext cx="4836883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2EF08D-93E2-AF7A-F559-DDB0B35B87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148CB9E0-8B46-6608-0C37-7C5ABA9B47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0352" y="2286000"/>
            <a:ext cx="5184648" cy="53403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0" name="Content Placeholder 5">
            <a:extLst>
              <a:ext uri="{FF2B5EF4-FFF2-40B4-BE49-F238E27FC236}">
                <a16:creationId xmlns:a16="http://schemas.microsoft.com/office/drawing/2014/main" id="{C2C05A59-CCEE-1225-7022-B1DA682C7041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530351" y="2980943"/>
            <a:ext cx="5183188" cy="3586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6471C19-5F51-6595-B72A-4BFC1E553D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90488" y="2286000"/>
            <a:ext cx="5183188" cy="53403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1" name="Content Placeholder 11">
            <a:extLst>
              <a:ext uri="{FF2B5EF4-FFF2-40B4-BE49-F238E27FC236}">
                <a16:creationId xmlns:a16="http://schemas.microsoft.com/office/drawing/2014/main" id="{0AB20C10-A144-EF5E-8276-7E736CE87590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6190488" y="2980944"/>
            <a:ext cx="5183188" cy="358611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962857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6D1F904E-1F4C-373E-2E2B-D7478F70F1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920" y="644663"/>
            <a:ext cx="11045952" cy="10883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0352" y="109728"/>
            <a:ext cx="527685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31928" y="110364"/>
            <a:ext cx="42920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907442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AD1B27E-1142-7BB8-1DE8-D31FA8AA8F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100701"/>
            <a:ext cx="589863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D900E2BC-FCC7-E994-4648-A42CDE51861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17920" y="100701"/>
            <a:ext cx="5332001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9E211A59-CFA8-A0B1-4A4C-E446F90726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62793" y="100701"/>
            <a:ext cx="42920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655447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5926" y="655093"/>
            <a:ext cx="10982409" cy="1528549"/>
          </a:xfrm>
        </p:spPr>
        <p:txBody>
          <a:bodyPr anchor="t">
            <a:no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5926" y="2497540"/>
            <a:ext cx="10982409" cy="3384645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5">
            <a:extLst>
              <a:ext uri="{FF2B5EF4-FFF2-40B4-BE49-F238E27FC236}">
                <a16:creationId xmlns:a16="http://schemas.microsoft.com/office/drawing/2014/main" id="{BD7A9B30-35AB-D437-5276-473CFE5169DF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45926" y="6438284"/>
            <a:ext cx="527685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4">
            <a:extLst>
              <a:ext uri="{FF2B5EF4-FFF2-40B4-BE49-F238E27FC236}">
                <a16:creationId xmlns:a16="http://schemas.microsoft.com/office/drawing/2014/main" id="{0D033E8C-C8B6-A9F1-6B99-0610AEC435CB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6190488" y="6432496"/>
            <a:ext cx="2544079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6" name="Slide Number Placeholder 6">
            <a:extLst>
              <a:ext uri="{FF2B5EF4-FFF2-40B4-BE49-F238E27FC236}">
                <a16:creationId xmlns:a16="http://schemas.microsoft.com/office/drawing/2014/main" id="{09C00759-43C5-D4A5-6597-C9F31C4DA2AA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099128" y="6438284"/>
            <a:ext cx="42920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599957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615" y="2883090"/>
            <a:ext cx="7741851" cy="1842020"/>
          </a:xfrm>
        </p:spPr>
        <p:txBody>
          <a:bodyPr anchor="b">
            <a:no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C9D34928-44CA-ACCE-36AD-37689020A3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6906" y="100701"/>
            <a:ext cx="5361724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B6F43E62-A9B0-571B-E3BD-354206A884C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17921" y="100701"/>
            <a:ext cx="252603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6905" y="4922111"/>
            <a:ext cx="7741850" cy="1279615"/>
          </a:xfrm>
        </p:spPr>
        <p:txBody>
          <a:bodyPr anchor="t">
            <a:noAutofit/>
          </a:bodyPr>
          <a:lstStyle>
            <a:lvl1pPr marL="0" indent="0">
              <a:buNone/>
              <a:defRPr sz="1400"/>
            </a:lvl1pPr>
            <a:lvl2pPr marL="228600" indent="0">
              <a:buNone/>
              <a:defRPr sz="14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62793" y="6392174"/>
            <a:ext cx="429207" cy="365125"/>
          </a:xfrm>
        </p:spPr>
        <p:txBody>
          <a:bodyPr anchor="b"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D3CF16D9-01F3-6CE6-7291-C344E099BBD0}"/>
              </a:ext>
            </a:extLst>
          </p:cNvPr>
          <p:cNvSpPr/>
          <p:nvPr/>
        </p:nvSpPr>
        <p:spPr>
          <a:xfrm>
            <a:off x="8454179" y="100701"/>
            <a:ext cx="3557904" cy="3557904"/>
          </a:xfrm>
          <a:prstGeom prst="ellipse">
            <a:avLst/>
          </a:prstGeom>
          <a:noFill/>
          <a:ln w="158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80570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99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8288" y="644663"/>
            <a:ext cx="12001592" cy="10883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190488" y="104576"/>
            <a:ext cx="4836883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 rtl="0">
              <a:lnSpc>
                <a:spcPct val="80000"/>
              </a:lnSpc>
              <a:defRPr sz="1000">
                <a:solidFill>
                  <a:schemeClr val="tx1"/>
                </a:solidFill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01" y="110364"/>
            <a:ext cx="5276852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 rtl="0">
              <a:lnSpc>
                <a:spcPct val="80000"/>
              </a:lnSpc>
              <a:defRPr sz="1000">
                <a:solidFill>
                  <a:schemeClr val="tx1"/>
                </a:solidFill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62792" y="110364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 rtl="0">
              <a:lnSpc>
                <a:spcPct val="80000"/>
              </a:lnSpc>
              <a:defRPr sz="1000">
                <a:solidFill>
                  <a:schemeClr val="tx1"/>
                </a:solidFill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1907521"/>
            <a:ext cx="12001592" cy="48401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25100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0" r:id="rId2"/>
    <p:sldLayoutId id="2147483691" r:id="rId3"/>
    <p:sldLayoutId id="2147483692" r:id="rId4"/>
    <p:sldLayoutId id="2147483693" r:id="rId5"/>
    <p:sldLayoutId id="2147483694" r:id="rId6"/>
    <p:sldLayoutId id="2147483695" r:id="rId7"/>
    <p:sldLayoutId id="2147483696" r:id="rId8"/>
    <p:sldLayoutId id="2147483697" r:id="rId9"/>
    <p:sldLayoutId id="2147483698" r:id="rId10"/>
    <p:sldLayoutId id="2147483699" r:id="rId11"/>
    <p:sldLayoutId id="2147483700" r:id="rId12"/>
    <p:sldLayoutId id="2147483701" r:id="rId13"/>
    <p:sldLayoutId id="2147483702" r:id="rId14"/>
    <p:sldLayoutId id="2147483703" r:id="rId15"/>
    <p:sldLayoutId id="2147483704" r:id="rId16"/>
    <p:sldLayoutId id="2147483705" r:id="rId17"/>
    <p:sldLayoutId id="2147483706" r:id="rId18"/>
    <p:sldLayoutId id="2147483707" r:id="rId19"/>
    <p:sldLayoutId id="2147483708" r:id="rId20"/>
    <p:sldLayoutId id="2147483709" r:id="rId21"/>
    <p:sldLayoutId id="2147483710" r:id="rId22"/>
    <p:sldLayoutId id="2147483711" r:id="rId23"/>
    <p:sldLayoutId id="2147483712" r:id="rId24"/>
    <p:sldLayoutId id="2147483713" r:id="rId25"/>
    <p:sldLayoutId id="2147483714" r:id="rId26"/>
    <p:sldLayoutId id="2147483715" r:id="rId27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600" b="0" i="0" kern="1200" spc="-2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0000"/>
        </a:lnSpc>
        <a:spcBef>
          <a:spcPts val="1000"/>
        </a:spcBef>
        <a:buFont typeface="Arial" panose="020B0604020202020204" pitchFamily="34" charset="0"/>
        <a:buNone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228600" indent="0" algn="l" defTabSz="914400" rtl="0" eaLnBrk="1" latinLnBrk="0" hangingPunct="1">
        <a:lnSpc>
          <a:spcPct val="80000"/>
        </a:lnSpc>
        <a:spcBef>
          <a:spcPts val="1000"/>
        </a:spcBef>
        <a:buFont typeface="Arial" panose="020B0604020202020204" pitchFamily="34" charset="0"/>
        <a:buNone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457200" indent="0" algn="l" defTabSz="914400" rtl="0" eaLnBrk="1" latinLnBrk="0" hangingPunct="1">
        <a:lnSpc>
          <a:spcPct val="80000"/>
        </a:lnSpc>
        <a:spcBef>
          <a:spcPts val="1000"/>
        </a:spcBef>
        <a:buFont typeface="Arial" panose="020B0604020202020204" pitchFamily="34" charset="0"/>
        <a:buNone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685800" indent="0" algn="l" defTabSz="914400" rtl="0" eaLnBrk="1" latinLnBrk="0" hangingPunct="1">
        <a:lnSpc>
          <a:spcPct val="80000"/>
        </a:lnSpc>
        <a:spcBef>
          <a:spcPts val="1000"/>
        </a:spcBef>
        <a:buFont typeface="Arial" panose="020B0604020202020204" pitchFamily="34" charset="0"/>
        <a:buNone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914400" indent="0" algn="l" defTabSz="914400" rtl="0" eaLnBrk="1" latinLnBrk="0" hangingPunct="1">
        <a:lnSpc>
          <a:spcPct val="80000"/>
        </a:lnSpc>
        <a:spcBef>
          <a:spcPts val="1000"/>
        </a:spcBef>
        <a:buFont typeface="Arial" panose="020B0604020202020204" pitchFamily="34" charset="0"/>
        <a:buNone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5" orient="horz" pos="2160">
          <p15:clr>
            <a:srgbClr val="F26B43"/>
          </p15:clr>
        </p15:guide>
        <p15:guide id="6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8395" y="1175938"/>
            <a:ext cx="10362895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0" tIns="731520" rtlCol="0" anchor="ctr"/>
          <a:lstStyle/>
          <a:p>
            <a:pPr algn="ctr">
              <a:defRPr sz="3600" b="1">
                <a:solidFill>
                  <a:srgbClr val="123B5D"/>
                </a:solidFill>
              </a:defRPr>
            </a:pPr>
            <a:r>
              <a:rPr dirty="0"/>
              <a:t>GLOBAL ELECTRONICS</a:t>
            </a:r>
          </a:p>
          <a:p>
            <a:pPr>
              <a:spcBef>
                <a:spcPts val="800"/>
              </a:spcBef>
              <a:defRPr sz="2200" b="1">
                <a:solidFill>
                  <a:srgbClr val="1976D2"/>
                </a:solidFill>
              </a:defRPr>
            </a:pPr>
            <a:r>
              <a:rPr dirty="0"/>
              <a:t>Sales &amp; Business Performance Dashboard</a:t>
            </a:r>
          </a:p>
          <a:p>
            <a:pPr>
              <a:spcBef>
                <a:spcPts val="1000"/>
              </a:spcBef>
              <a:defRPr sz="1400">
                <a:solidFill>
                  <a:srgbClr val="556270"/>
                </a:solidFill>
              </a:defRPr>
            </a:pPr>
            <a:r>
              <a:rPr dirty="0"/>
              <a:t>End-to-End Enterprise Analytics: MySQL • Power BI • DAX</a:t>
            </a:r>
          </a:p>
          <a:p>
            <a:pPr>
              <a:spcBef>
                <a:spcPts val="4000"/>
              </a:spcBef>
              <a:defRPr sz="1400" b="1">
                <a:solidFill>
                  <a:srgbClr val="123B5D"/>
                </a:solidFill>
              </a:defRPr>
            </a:pPr>
            <a:r>
              <a:rPr dirty="0"/>
              <a:t>Prepared by: Nithish G. | MCA Graduate (2026)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C21592C-F07F-CAE0-B58F-AA876398C00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839" b="5900"/>
          <a:stretch>
            <a:fillRect/>
          </a:stretch>
        </p:blipFill>
        <p:spPr>
          <a:xfrm>
            <a:off x="8134680" y="3805084"/>
            <a:ext cx="1732637" cy="747251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976D2"/>
                </a:solidFill>
              </a:defRPr>
            </a:pPr>
            <a:r>
              <a:t>GLOBAL ELECTRONICS RETAIL DASHBOARD</a:t>
            </a:r>
          </a:p>
          <a:p>
            <a:pPr>
              <a:defRPr sz="2400" b="1">
                <a:solidFill>
                  <a:srgbClr val="123B5D"/>
                </a:solidFill>
              </a:defRPr>
            </a:pPr>
            <a:r>
              <a:t>Project Overview &amp; Key Objectives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365760" rIns="365760" bIns="365760" rtlCol="0" anchor="ctr"/>
          <a:lstStyle/>
          <a:p>
            <a:pPr algn="ctr">
              <a:defRPr sz="1800" b="1">
                <a:solidFill>
                  <a:srgbClr val="123B5D"/>
                </a:solidFill>
              </a:defRPr>
            </a:pPr>
            <a:r>
              <a:t>Executive Summary</a:t>
            </a:r>
          </a:p>
          <a:p>
            <a:pPr>
              <a:spcBef>
                <a:spcPts val="1200"/>
              </a:spcBef>
              <a:defRPr sz="1300">
                <a:solidFill>
                  <a:srgbClr val="556270"/>
                </a:solidFill>
              </a:defRPr>
            </a:pPr>
            <a:r>
              <a:t>This project presents a multi-tier retail business intelligence platform for a global consumer electronics retailer. It tracks end-to-end sales transactions across regional retail stores and direct online channels to give stakeholders full operational visibility.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365760" rIns="365760" bIns="365760" rtlCol="0" anchor="ctr"/>
          <a:lstStyle/>
          <a:p>
            <a:pPr algn="ctr">
              <a:defRPr sz="1800" b="1">
                <a:solidFill>
                  <a:srgbClr val="123B5D"/>
                </a:solidFill>
              </a:defRPr>
            </a:pPr>
            <a:r>
              <a:t>Core Project Objectives</a:t>
            </a:r>
          </a:p>
          <a:p>
            <a:pPr>
              <a:spcBef>
                <a:spcPts val="1000"/>
              </a:spcBef>
              <a:defRPr sz="1300">
                <a:solidFill>
                  <a:srgbClr val="556270"/>
                </a:solidFill>
              </a:defRPr>
            </a:pPr>
            <a:r>
              <a:t>•  Analyze core commercial metrics: Revenue ($55.76M), Profit ($32.66M), and Margin (58.58%).</a:t>
            </a:r>
          </a:p>
          <a:p>
            <a:pPr>
              <a:spcBef>
                <a:spcPts val="1000"/>
              </a:spcBef>
              <a:defRPr sz="1300">
                <a:solidFill>
                  <a:srgbClr val="556270"/>
                </a:solidFill>
              </a:defRPr>
            </a:pPr>
            <a:r>
              <a:t>•  Benchmark revenue contributions across physical outlets versus online sales channels.</a:t>
            </a:r>
          </a:p>
          <a:p>
            <a:pPr>
              <a:spcBef>
                <a:spcPts val="1000"/>
              </a:spcBef>
              <a:defRPr sz="1300">
                <a:solidFill>
                  <a:srgbClr val="556270"/>
                </a:solidFill>
              </a:defRPr>
            </a:pPr>
            <a:r>
              <a:t>•  Identify high-margin categories and track product demand across global regions.</a:t>
            </a:r>
          </a:p>
          <a:p>
            <a:pPr>
              <a:spcBef>
                <a:spcPts val="1000"/>
              </a:spcBef>
              <a:defRPr sz="1300">
                <a:solidFill>
                  <a:srgbClr val="556270"/>
                </a:solidFill>
              </a:defRPr>
            </a:pPr>
            <a:r>
              <a:t>•  Deliver an executive dashboard with drill-down pages for Products, Customers, and Stores.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976D2"/>
                </a:solidFill>
              </a:defRPr>
            </a:pPr>
            <a:r>
              <a:t>GLOBAL ELECTRONICS RETAIL DASHBOARD</a:t>
            </a:r>
          </a:p>
          <a:p>
            <a:pPr>
              <a:defRPr sz="2400" b="1">
                <a:solidFill>
                  <a:srgbClr val="123B5D"/>
                </a:solidFill>
              </a:defRPr>
            </a:pPr>
            <a:r>
              <a:t>Business Problem &amp; Operational Challenges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512064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Ins="274320" bIns="274320" rtlCol="0" anchor="ctr"/>
          <a:lstStyle/>
          <a:p>
            <a:pPr algn="ctr">
              <a:defRPr sz="1600" b="1">
                <a:solidFill>
                  <a:srgbClr val="123B5D"/>
                </a:solidFill>
              </a:defRPr>
            </a:pPr>
            <a:r>
              <a:t>01. Decentralized Transaction Data</a:t>
            </a:r>
          </a:p>
          <a:p>
            <a:pPr>
              <a:spcBef>
                <a:spcPts val="800"/>
              </a:spcBef>
              <a:defRPr sz="1200">
                <a:solidFill>
                  <a:srgbClr val="556270"/>
                </a:solidFill>
              </a:defRPr>
            </a:pPr>
            <a:r>
              <a:t>Transaction logs, inventory costs, and foreign currencies were stored in disconnected CSV flat-files without relational integrity.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0" y="1463040"/>
            <a:ext cx="512064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Ins="274320" bIns="274320" rtlCol="0" anchor="ctr"/>
          <a:lstStyle/>
          <a:p>
            <a:pPr algn="ctr">
              <a:defRPr sz="1600" b="1">
                <a:solidFill>
                  <a:srgbClr val="123B5D"/>
                </a:solidFill>
              </a:defRPr>
            </a:pPr>
            <a:r>
              <a:t>02. Lack of True Margin Visibility</a:t>
            </a:r>
          </a:p>
          <a:p>
            <a:pPr>
              <a:spcBef>
                <a:spcPts val="800"/>
              </a:spcBef>
              <a:defRPr sz="1200">
                <a:solidFill>
                  <a:srgbClr val="556270"/>
                </a:solidFill>
              </a:defRPr>
            </a:pPr>
            <a:r>
              <a:t>Top-line revenue tracking masked product categories that delivered high gross volume but poor operating profitability.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840480"/>
            <a:ext cx="512064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Ins="274320" bIns="274320" rtlCol="0" anchor="ctr"/>
          <a:lstStyle/>
          <a:p>
            <a:pPr algn="ctr">
              <a:defRPr sz="1600" b="1">
                <a:solidFill>
                  <a:srgbClr val="123B5D"/>
                </a:solidFill>
              </a:defRPr>
            </a:pPr>
            <a:r>
              <a:t>03. Physical Store Sizing Uncertainty</a:t>
            </a:r>
          </a:p>
          <a:p>
            <a:pPr>
              <a:spcBef>
                <a:spcPts val="800"/>
              </a:spcBef>
              <a:defRPr sz="1200">
                <a:solidFill>
                  <a:srgbClr val="556270"/>
                </a:solidFill>
              </a:defRPr>
            </a:pPr>
            <a:r>
              <a:t>Management lacked clarity on whether large-footprint retail stores generated proportional sales compared to compact stores.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3840480"/>
            <a:ext cx="512064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Ins="274320" bIns="274320" rtlCol="0" anchor="ctr"/>
          <a:lstStyle/>
          <a:p>
            <a:pPr algn="ctr">
              <a:defRPr sz="1600" b="1">
                <a:solidFill>
                  <a:srgbClr val="123B5D"/>
                </a:solidFill>
              </a:defRPr>
            </a:pPr>
            <a:r>
              <a:t>04. High Reporting Latency</a:t>
            </a:r>
          </a:p>
          <a:p>
            <a:pPr>
              <a:spcBef>
                <a:spcPts val="800"/>
              </a:spcBef>
              <a:defRPr sz="1200">
                <a:solidFill>
                  <a:srgbClr val="556270"/>
                </a:solidFill>
              </a:defRPr>
            </a:pPr>
            <a:r>
              <a:t>Periodic static spreadsheet updates delayed strategic inventory and regional allocation decisions.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976D2"/>
                </a:solidFill>
              </a:defRPr>
            </a:pPr>
            <a:r>
              <a:t>GLOBAL ELECTRONICS RETAIL DASHBOARD</a:t>
            </a:r>
          </a:p>
          <a:p>
            <a:pPr>
              <a:defRPr sz="2400" b="1">
                <a:solidFill>
                  <a:srgbClr val="123B5D"/>
                </a:solidFill>
              </a:defRPr>
            </a:pPr>
            <a:r>
              <a:t>Technology Architecture &amp; Analytical Stack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256032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Ins="274320" bIns="274320" rtlCol="0" anchor="ctr"/>
          <a:lstStyle/>
          <a:p>
            <a:pPr algn="ctr">
              <a:defRPr sz="1700" b="1">
                <a:solidFill>
                  <a:srgbClr val="123B5D"/>
                </a:solidFill>
              </a:defRPr>
            </a:pPr>
            <a:r>
              <a:t>MySQL 8.0</a:t>
            </a:r>
          </a:p>
          <a:p>
            <a:pPr>
              <a:spcBef>
                <a:spcPts val="400"/>
              </a:spcBef>
              <a:defRPr sz="1100" b="1">
                <a:solidFill>
                  <a:srgbClr val="1976D2"/>
                </a:solidFill>
              </a:defRPr>
            </a:pPr>
            <a:r>
              <a:t>Data Storage &amp; Relational ETL</a:t>
            </a:r>
          </a:p>
          <a:p>
            <a:pPr>
              <a:spcBef>
                <a:spcPts val="800"/>
              </a:spcBef>
              <a:defRPr sz="1100">
                <a:solidFill>
                  <a:srgbClr val="556270"/>
                </a:solidFill>
              </a:defRPr>
            </a:pPr>
            <a:r>
              <a:t>• Relational schema design</a:t>
            </a:r>
          </a:p>
          <a:p>
            <a:pPr>
              <a:spcBef>
                <a:spcPts val="800"/>
              </a:spcBef>
              <a:defRPr sz="1100">
                <a:solidFill>
                  <a:srgbClr val="556270"/>
                </a:solidFill>
              </a:defRPr>
            </a:pPr>
            <a:r>
              <a:t>• Bulk CSV ingestion</a:t>
            </a:r>
          </a:p>
          <a:p>
            <a:pPr>
              <a:spcBef>
                <a:spcPts val="800"/>
              </a:spcBef>
              <a:defRPr sz="1100">
                <a:solidFill>
                  <a:srgbClr val="556270"/>
                </a:solidFill>
              </a:defRPr>
            </a:pPr>
            <a:r>
              <a:t>• Date parsing &amp; validation</a:t>
            </a:r>
          </a:p>
          <a:p>
            <a:pPr>
              <a:spcBef>
                <a:spcPts val="800"/>
              </a:spcBef>
              <a:defRPr sz="1100">
                <a:solidFill>
                  <a:srgbClr val="556270"/>
                </a:solidFill>
              </a:defRPr>
            </a:pPr>
            <a:r>
              <a:t>• Analytical SQL queries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429000" y="1463040"/>
            <a:ext cx="256032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Ins="274320" bIns="274320" rtlCol="0" anchor="ctr"/>
          <a:lstStyle/>
          <a:p>
            <a:pPr algn="ctr">
              <a:defRPr sz="1700" b="1">
                <a:solidFill>
                  <a:srgbClr val="123B5D"/>
                </a:solidFill>
              </a:defRPr>
            </a:pPr>
            <a:r>
              <a:t>Power BI</a:t>
            </a:r>
          </a:p>
          <a:p>
            <a:pPr>
              <a:spcBef>
                <a:spcPts val="400"/>
              </a:spcBef>
              <a:defRPr sz="1100" b="1">
                <a:solidFill>
                  <a:srgbClr val="1976D2"/>
                </a:solidFill>
              </a:defRPr>
            </a:pPr>
            <a:r>
              <a:t>Data Modeling &amp; Reporting</a:t>
            </a:r>
          </a:p>
          <a:p>
            <a:pPr>
              <a:spcBef>
                <a:spcPts val="800"/>
              </a:spcBef>
              <a:defRPr sz="1100">
                <a:solidFill>
                  <a:srgbClr val="556270"/>
                </a:solidFill>
              </a:defRPr>
            </a:pPr>
            <a:r>
              <a:t>• Star Schema modeling</a:t>
            </a:r>
          </a:p>
          <a:p>
            <a:pPr>
              <a:spcBef>
                <a:spcPts val="800"/>
              </a:spcBef>
              <a:defRPr sz="1100">
                <a:solidFill>
                  <a:srgbClr val="556270"/>
                </a:solidFill>
              </a:defRPr>
            </a:pPr>
            <a:r>
              <a:t>• Interactive canvas pages</a:t>
            </a:r>
          </a:p>
          <a:p>
            <a:pPr>
              <a:spcBef>
                <a:spcPts val="800"/>
              </a:spcBef>
              <a:defRPr sz="1100">
                <a:solidFill>
                  <a:srgbClr val="556270"/>
                </a:solidFill>
              </a:defRPr>
            </a:pPr>
            <a:r>
              <a:t>• Category &amp; Country slicers</a:t>
            </a:r>
          </a:p>
          <a:p>
            <a:pPr>
              <a:spcBef>
                <a:spcPts val="800"/>
              </a:spcBef>
              <a:defRPr sz="1100">
                <a:solidFill>
                  <a:srgbClr val="556270"/>
                </a:solidFill>
              </a:defRPr>
            </a:pPr>
            <a:r>
              <a:t>• Custom theme formatting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0" y="1463040"/>
            <a:ext cx="256032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Ins="274320" bIns="274320" rtlCol="0" anchor="ctr"/>
          <a:lstStyle/>
          <a:p>
            <a:pPr algn="ctr">
              <a:defRPr sz="1700" b="1">
                <a:solidFill>
                  <a:srgbClr val="123B5D"/>
                </a:solidFill>
              </a:defRPr>
            </a:pPr>
            <a:r>
              <a:t>DAX</a:t>
            </a:r>
          </a:p>
          <a:p>
            <a:pPr>
              <a:spcBef>
                <a:spcPts val="400"/>
              </a:spcBef>
              <a:defRPr sz="1100" b="1">
                <a:solidFill>
                  <a:srgbClr val="1976D2"/>
                </a:solidFill>
              </a:defRPr>
            </a:pPr>
            <a:r>
              <a:t>Business Calculations</a:t>
            </a:r>
          </a:p>
          <a:p>
            <a:pPr>
              <a:spcBef>
                <a:spcPts val="800"/>
              </a:spcBef>
              <a:defRPr sz="1100">
                <a:solidFill>
                  <a:srgbClr val="556270"/>
                </a:solidFill>
              </a:defRPr>
            </a:pPr>
            <a:r>
              <a:t>• Dynamic SUMX measures</a:t>
            </a:r>
          </a:p>
          <a:p>
            <a:pPr>
              <a:spcBef>
                <a:spcPts val="800"/>
              </a:spcBef>
              <a:defRPr sz="1100">
                <a:solidFill>
                  <a:srgbClr val="556270"/>
                </a:solidFill>
              </a:defRPr>
            </a:pPr>
            <a:r>
              <a:t>• Cost &amp; Profit formulas</a:t>
            </a:r>
          </a:p>
          <a:p>
            <a:pPr>
              <a:spcBef>
                <a:spcPts val="800"/>
              </a:spcBef>
              <a:defRPr sz="1100">
                <a:solidFill>
                  <a:srgbClr val="556270"/>
                </a:solidFill>
              </a:defRPr>
            </a:pPr>
            <a:r>
              <a:t>• Profit Margin % DIVIDE logic</a:t>
            </a:r>
          </a:p>
          <a:p>
            <a:pPr>
              <a:spcBef>
                <a:spcPts val="800"/>
              </a:spcBef>
              <a:defRPr sz="1100">
                <a:solidFill>
                  <a:srgbClr val="556270"/>
                </a:solidFill>
              </a:defRPr>
            </a:pPr>
            <a:r>
              <a:t>• Distinct counter logic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823960" y="1463040"/>
            <a:ext cx="256032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Ins="274320" bIns="274320" rtlCol="0" anchor="ctr"/>
          <a:lstStyle/>
          <a:p>
            <a:pPr algn="ctr">
              <a:defRPr sz="1700" b="1">
                <a:solidFill>
                  <a:srgbClr val="123B5D"/>
                </a:solidFill>
              </a:defRPr>
            </a:pPr>
            <a:r>
              <a:t>Excel &amp; Git</a:t>
            </a:r>
          </a:p>
          <a:p>
            <a:pPr>
              <a:spcBef>
                <a:spcPts val="400"/>
              </a:spcBef>
              <a:defRPr sz="1100" b="1">
                <a:solidFill>
                  <a:srgbClr val="1976D2"/>
                </a:solidFill>
              </a:defRPr>
            </a:pPr>
            <a:r>
              <a:t>Validation &amp; Versioning</a:t>
            </a:r>
          </a:p>
          <a:p>
            <a:pPr>
              <a:spcBef>
                <a:spcPts val="800"/>
              </a:spcBef>
              <a:defRPr sz="1100">
                <a:solidFill>
                  <a:srgbClr val="556270"/>
                </a:solidFill>
              </a:defRPr>
            </a:pPr>
            <a:r>
              <a:t>• Data dictionary audits</a:t>
            </a:r>
          </a:p>
          <a:p>
            <a:pPr>
              <a:spcBef>
                <a:spcPts val="800"/>
              </a:spcBef>
              <a:defRPr sz="1100">
                <a:solidFill>
                  <a:srgbClr val="556270"/>
                </a:solidFill>
              </a:defRPr>
            </a:pPr>
            <a:r>
              <a:t>• Pre-import validation</a:t>
            </a:r>
          </a:p>
          <a:p>
            <a:pPr>
              <a:spcBef>
                <a:spcPts val="800"/>
              </a:spcBef>
              <a:defRPr sz="1100">
                <a:solidFill>
                  <a:srgbClr val="556270"/>
                </a:solidFill>
              </a:defRPr>
            </a:pPr>
            <a:r>
              <a:t>• Repository versioning</a:t>
            </a:r>
          </a:p>
          <a:p>
            <a:pPr>
              <a:spcBef>
                <a:spcPts val="800"/>
              </a:spcBef>
              <a:defRPr sz="1100">
                <a:solidFill>
                  <a:srgbClr val="556270"/>
                </a:solidFill>
              </a:defRPr>
            </a:pPr>
            <a:r>
              <a:t>• Project documentation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976D2"/>
                </a:solidFill>
              </a:defRPr>
            </a:pPr>
            <a:r>
              <a:t>GLOBAL ELECTRONICS RETAIL DASHBOARD</a:t>
            </a:r>
          </a:p>
          <a:p>
            <a:pPr>
              <a:defRPr sz="2400" b="1">
                <a:solidFill>
                  <a:srgbClr val="123B5D"/>
                </a:solidFill>
              </a:defRPr>
            </a:pPr>
            <a:r>
              <a:t>Dataset Scale &amp; Star Schema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524000" y="1463040"/>
            <a:ext cx="5181599" cy="458379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365760" rIns="365760" bIns="365760" rtlCol="0" anchor="ctr"/>
          <a:lstStyle/>
          <a:p>
            <a:pPr algn="ctr">
              <a:defRPr sz="1800" b="1">
                <a:solidFill>
                  <a:srgbClr val="123B5D"/>
                </a:solidFill>
              </a:defRPr>
            </a:pPr>
            <a:r>
              <a:rPr lang="en-IN" sz="1200" b="1" dirty="0">
                <a:solidFill>
                  <a:srgbClr val="123B5D"/>
                </a:solidFill>
              </a:rPr>
              <a:t>Customers[</a:t>
            </a:r>
            <a:r>
              <a:rPr lang="en-IN" sz="1200" b="1" dirty="0" err="1">
                <a:solidFill>
                  <a:srgbClr val="123B5D"/>
                </a:solidFill>
              </a:rPr>
              <a:t>CustomerKey</a:t>
            </a:r>
            <a:r>
              <a:rPr lang="en-IN" sz="1200" b="1" dirty="0">
                <a:solidFill>
                  <a:srgbClr val="123B5D"/>
                </a:solidFill>
              </a:rPr>
              <a:t>] </a:t>
            </a:r>
          </a:p>
          <a:p>
            <a:pPr algn="ctr">
              <a:defRPr sz="1800" b="1">
                <a:solidFill>
                  <a:srgbClr val="123B5D"/>
                </a:solidFill>
              </a:defRPr>
            </a:pPr>
            <a:endParaRPr lang="en-IN" sz="1200" b="1" dirty="0">
              <a:solidFill>
                <a:srgbClr val="FF0000"/>
              </a:solidFill>
            </a:endParaRPr>
          </a:p>
          <a:p>
            <a:pPr algn="ctr">
              <a:defRPr sz="1800" b="1">
                <a:solidFill>
                  <a:srgbClr val="123B5D"/>
                </a:solidFill>
              </a:defRPr>
            </a:pPr>
            <a:r>
              <a:rPr lang="en-IN" sz="1200" b="1" dirty="0">
                <a:solidFill>
                  <a:srgbClr val="FF0000"/>
                </a:solidFill>
              </a:rPr>
              <a:t>Sales[</a:t>
            </a:r>
            <a:r>
              <a:rPr lang="en-IN" sz="1200" b="1" dirty="0" err="1">
                <a:solidFill>
                  <a:srgbClr val="FF0000"/>
                </a:solidFill>
              </a:rPr>
              <a:t>CustomerKey</a:t>
            </a:r>
            <a:r>
              <a:rPr lang="en-IN" sz="1200" b="1" dirty="0">
                <a:solidFill>
                  <a:srgbClr val="FF0000"/>
                </a:solidFill>
              </a:rPr>
              <a:t>] (Active, Single)</a:t>
            </a:r>
          </a:p>
          <a:p>
            <a:pPr algn="ctr">
              <a:defRPr sz="1800" b="1">
                <a:solidFill>
                  <a:srgbClr val="123B5D"/>
                </a:solidFill>
              </a:defRPr>
            </a:pPr>
            <a:endParaRPr lang="en-IN" sz="1200" b="1" dirty="0">
              <a:solidFill>
                <a:srgbClr val="123B5D"/>
              </a:solidFill>
            </a:endParaRPr>
          </a:p>
          <a:p>
            <a:pPr algn="ctr">
              <a:defRPr sz="1800" b="1">
                <a:solidFill>
                  <a:srgbClr val="123B5D"/>
                </a:solidFill>
              </a:defRPr>
            </a:pPr>
            <a:r>
              <a:rPr lang="en-IN" sz="1200" b="1" dirty="0">
                <a:solidFill>
                  <a:srgbClr val="123B5D"/>
                </a:solidFill>
              </a:rPr>
              <a:t>Products[</a:t>
            </a:r>
            <a:r>
              <a:rPr lang="en-IN" sz="1200" b="1" dirty="0" err="1">
                <a:solidFill>
                  <a:srgbClr val="123B5D"/>
                </a:solidFill>
              </a:rPr>
              <a:t>ProductKey</a:t>
            </a:r>
            <a:r>
              <a:rPr lang="en-IN" sz="1200" b="1" dirty="0">
                <a:solidFill>
                  <a:srgbClr val="123B5D"/>
                </a:solidFill>
              </a:rPr>
              <a:t>]</a:t>
            </a:r>
          </a:p>
          <a:p>
            <a:pPr algn="ctr">
              <a:defRPr sz="1800" b="1">
                <a:solidFill>
                  <a:srgbClr val="123B5D"/>
                </a:solidFill>
              </a:defRPr>
            </a:pPr>
            <a:endParaRPr lang="en-IN" sz="1200" b="1" dirty="0">
              <a:solidFill>
                <a:srgbClr val="FF0000"/>
              </a:solidFill>
            </a:endParaRPr>
          </a:p>
          <a:p>
            <a:pPr algn="ctr">
              <a:defRPr sz="1800" b="1">
                <a:solidFill>
                  <a:srgbClr val="123B5D"/>
                </a:solidFill>
              </a:defRPr>
            </a:pPr>
            <a:r>
              <a:rPr lang="en-IN" sz="1200" b="1" dirty="0">
                <a:solidFill>
                  <a:srgbClr val="FF0000"/>
                </a:solidFill>
              </a:rPr>
              <a:t>Sales[</a:t>
            </a:r>
            <a:r>
              <a:rPr lang="en-IN" sz="1200" b="1" dirty="0" err="1">
                <a:solidFill>
                  <a:srgbClr val="FF0000"/>
                </a:solidFill>
              </a:rPr>
              <a:t>ProductKey</a:t>
            </a:r>
            <a:r>
              <a:rPr lang="en-IN" sz="1200" b="1" dirty="0">
                <a:solidFill>
                  <a:srgbClr val="FF0000"/>
                </a:solidFill>
              </a:rPr>
              <a:t>] (Active, Single)</a:t>
            </a:r>
          </a:p>
          <a:p>
            <a:pPr algn="ctr">
              <a:defRPr sz="1800" b="1">
                <a:solidFill>
                  <a:srgbClr val="123B5D"/>
                </a:solidFill>
              </a:defRPr>
            </a:pPr>
            <a:endParaRPr lang="en-IN" sz="1200" b="1" dirty="0">
              <a:solidFill>
                <a:srgbClr val="FF0000"/>
              </a:solidFill>
            </a:endParaRPr>
          </a:p>
          <a:p>
            <a:pPr algn="ctr">
              <a:defRPr sz="1800" b="1">
                <a:solidFill>
                  <a:srgbClr val="123B5D"/>
                </a:solidFill>
              </a:defRPr>
            </a:pPr>
            <a:r>
              <a:rPr lang="en-IN" sz="1200" b="1" dirty="0">
                <a:solidFill>
                  <a:srgbClr val="123B5D"/>
                </a:solidFill>
              </a:rPr>
              <a:t>Stores[</a:t>
            </a:r>
            <a:r>
              <a:rPr lang="en-IN" sz="1200" b="1" dirty="0" err="1">
                <a:solidFill>
                  <a:srgbClr val="123B5D"/>
                </a:solidFill>
              </a:rPr>
              <a:t>StoreKey</a:t>
            </a:r>
            <a:r>
              <a:rPr lang="en-IN" sz="1200" b="1" dirty="0">
                <a:solidFill>
                  <a:srgbClr val="123B5D"/>
                </a:solidFill>
              </a:rPr>
              <a:t>]</a:t>
            </a:r>
          </a:p>
          <a:p>
            <a:pPr algn="ctr">
              <a:defRPr sz="1800" b="1">
                <a:solidFill>
                  <a:srgbClr val="123B5D"/>
                </a:solidFill>
              </a:defRPr>
            </a:pPr>
            <a:endParaRPr lang="en-IN" sz="1200" b="1" dirty="0">
              <a:solidFill>
                <a:srgbClr val="123B5D"/>
              </a:solidFill>
            </a:endParaRPr>
          </a:p>
          <a:p>
            <a:pPr algn="ctr">
              <a:defRPr sz="1800" b="1">
                <a:solidFill>
                  <a:srgbClr val="123B5D"/>
                </a:solidFill>
              </a:defRPr>
            </a:pPr>
            <a:r>
              <a:rPr lang="en-IN" sz="1200" b="1" dirty="0">
                <a:solidFill>
                  <a:srgbClr val="FF0000"/>
                </a:solidFill>
              </a:rPr>
              <a:t>Sales[</a:t>
            </a:r>
            <a:r>
              <a:rPr lang="en-IN" sz="1200" b="1" dirty="0" err="1">
                <a:solidFill>
                  <a:srgbClr val="FF0000"/>
                </a:solidFill>
              </a:rPr>
              <a:t>StoreKey</a:t>
            </a:r>
            <a:r>
              <a:rPr lang="en-IN" sz="1200" b="1" dirty="0">
                <a:solidFill>
                  <a:srgbClr val="FF0000"/>
                </a:solidFill>
              </a:rPr>
              <a:t>] (Active, Single)</a:t>
            </a:r>
          </a:p>
          <a:p>
            <a:pPr algn="ctr">
              <a:defRPr sz="1800" b="1">
                <a:solidFill>
                  <a:srgbClr val="123B5D"/>
                </a:solidFill>
              </a:defRPr>
            </a:pPr>
            <a:endParaRPr sz="1200" dirty="0">
              <a:solidFill>
                <a:srgbClr val="FF0000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6949440" y="1463040"/>
            <a:ext cx="448056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365760" rIns="365760" bIns="365760" rtlCol="0" anchor="ctr"/>
          <a:lstStyle/>
          <a:p>
            <a:pPr algn="ctr">
              <a:defRPr sz="1800" b="1">
                <a:solidFill>
                  <a:srgbClr val="123B5D"/>
                </a:solidFill>
              </a:defRPr>
            </a:pPr>
            <a:r>
              <a:t>Dataset Breakdown</a:t>
            </a:r>
          </a:p>
          <a:p>
            <a:pPr>
              <a:spcBef>
                <a:spcPts val="800"/>
              </a:spcBef>
              <a:defRPr sz="1200">
                <a:solidFill>
                  <a:srgbClr val="556270"/>
                </a:solidFill>
              </a:defRPr>
            </a:pPr>
            <a:r>
              <a:t>Sales.csv (Fact Table)</a:t>
            </a:r>
            <a:br/>
            <a:r>
              <a:t>62,884 rows</a:t>
            </a:r>
          </a:p>
          <a:p>
            <a:pPr>
              <a:spcBef>
                <a:spcPts val="800"/>
              </a:spcBef>
              <a:defRPr sz="1200">
                <a:solidFill>
                  <a:srgbClr val="556270"/>
                </a:solidFill>
              </a:defRPr>
            </a:pPr>
            <a:r>
              <a:t>Customers.csv (Dimension)</a:t>
            </a:r>
            <a:br/>
            <a:r>
              <a:t>15,266 rows</a:t>
            </a:r>
          </a:p>
          <a:p>
            <a:pPr>
              <a:spcBef>
                <a:spcPts val="800"/>
              </a:spcBef>
              <a:defRPr sz="1200">
                <a:solidFill>
                  <a:srgbClr val="556270"/>
                </a:solidFill>
              </a:defRPr>
            </a:pPr>
            <a:r>
              <a:t>Products.csv (Dimension)</a:t>
            </a:r>
            <a:br/>
            <a:r>
              <a:t>2,517 rows</a:t>
            </a:r>
          </a:p>
          <a:p>
            <a:pPr>
              <a:spcBef>
                <a:spcPts val="800"/>
              </a:spcBef>
              <a:defRPr sz="1200">
                <a:solidFill>
                  <a:srgbClr val="556270"/>
                </a:solidFill>
              </a:defRPr>
            </a:pPr>
            <a:r>
              <a:t>Stores.csv (Dimension)</a:t>
            </a:r>
            <a:br/>
            <a:r>
              <a:t>67 rows</a:t>
            </a:r>
          </a:p>
          <a:p>
            <a:pPr>
              <a:spcBef>
                <a:spcPts val="800"/>
              </a:spcBef>
              <a:defRPr sz="1200">
                <a:solidFill>
                  <a:srgbClr val="556270"/>
                </a:solidFill>
              </a:defRPr>
            </a:pPr>
            <a:r>
              <a:t>Exchange_Rates.csv (Lookup)</a:t>
            </a:r>
            <a:br/>
            <a:r>
              <a:t>11,215 rows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05334C50-07EC-DBC3-F802-6F17C7F04F29}"/>
              </a:ext>
            </a:extLst>
          </p:cNvPr>
          <p:cNvCxnSpPr/>
          <p:nvPr/>
        </p:nvCxnSpPr>
        <p:spPr>
          <a:xfrm>
            <a:off x="5113265" y="2862434"/>
            <a:ext cx="816078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59731500-03D8-16FA-E13F-948FCF76D79E}"/>
              </a:ext>
            </a:extLst>
          </p:cNvPr>
          <p:cNvSpPr txBox="1"/>
          <p:nvPr/>
        </p:nvSpPr>
        <p:spPr>
          <a:xfrm>
            <a:off x="5226336" y="2493102"/>
            <a:ext cx="5899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1:*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E4558E5-3AAD-0A61-7CAC-C64038FB2D61}"/>
              </a:ext>
            </a:extLst>
          </p:cNvPr>
          <p:cNvSpPr txBox="1"/>
          <p:nvPr/>
        </p:nvSpPr>
        <p:spPr>
          <a:xfrm>
            <a:off x="5153577" y="3400798"/>
            <a:ext cx="5899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1:*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557E1A3-E5E2-E72C-E511-316B8195918B}"/>
              </a:ext>
            </a:extLst>
          </p:cNvPr>
          <p:cNvCxnSpPr/>
          <p:nvPr/>
        </p:nvCxnSpPr>
        <p:spPr>
          <a:xfrm>
            <a:off x="5040506" y="3770130"/>
            <a:ext cx="816078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E9FA305C-54DD-CA46-886C-3E420A06E402}"/>
              </a:ext>
            </a:extLst>
          </p:cNvPr>
          <p:cNvSpPr txBox="1"/>
          <p:nvPr/>
        </p:nvSpPr>
        <p:spPr>
          <a:xfrm>
            <a:off x="5103924" y="4181839"/>
            <a:ext cx="5899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1:*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42C2A2B0-2EE8-506B-77C8-21E40030AA27}"/>
              </a:ext>
            </a:extLst>
          </p:cNvPr>
          <p:cNvCxnSpPr/>
          <p:nvPr/>
        </p:nvCxnSpPr>
        <p:spPr>
          <a:xfrm>
            <a:off x="5000194" y="4551171"/>
            <a:ext cx="816078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976D2"/>
                </a:solidFill>
              </a:defRPr>
            </a:pPr>
            <a:r>
              <a:t>GLOBAL ELECTRONICS RETAIL DASHBOARD</a:t>
            </a:r>
          </a:p>
          <a:p>
            <a:pPr>
              <a:defRPr sz="2400" b="1">
                <a:solidFill>
                  <a:srgbClr val="123B5D"/>
                </a:solidFill>
              </a:defRPr>
            </a:pPr>
            <a:r>
              <a:t>Data Preparation &amp; SQL Ingestion Pipeline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365760" rIns="365760" bIns="365760" rtlCol="0" anchor="ctr"/>
          <a:lstStyle/>
          <a:p>
            <a:pPr algn="ctr">
              <a:defRPr sz="1800" b="1">
                <a:solidFill>
                  <a:srgbClr val="123B5D"/>
                </a:solidFill>
              </a:defRPr>
            </a:pPr>
            <a:r>
              <a:t>Key Pipeline Steps</a:t>
            </a:r>
          </a:p>
          <a:p>
            <a:pPr>
              <a:spcBef>
                <a:spcPts val="1000"/>
              </a:spcBef>
              <a:defRPr sz="1200">
                <a:solidFill>
                  <a:srgbClr val="556270"/>
                </a:solidFill>
              </a:defRPr>
            </a:pPr>
            <a:r>
              <a:t>• Windows CRLF (_x000D_</a:t>
            </a:r>
            <a:br/>
            <a:r>
              <a:t>) handling during bulk LOAD DATA INFILE execution.</a:t>
            </a:r>
          </a:p>
          <a:p>
            <a:pPr>
              <a:spcBef>
                <a:spcPts val="1000"/>
              </a:spcBef>
              <a:defRPr sz="1200">
                <a:solidFill>
                  <a:srgbClr val="556270"/>
                </a:solidFill>
              </a:defRPr>
            </a:pPr>
            <a:r>
              <a:t>• Character set mapping to latin1 to preserve international characters.</a:t>
            </a:r>
          </a:p>
          <a:p>
            <a:pPr>
              <a:spcBef>
                <a:spcPts val="1000"/>
              </a:spcBef>
              <a:defRPr sz="1200">
                <a:solidFill>
                  <a:srgbClr val="556270"/>
                </a:solidFill>
              </a:defRPr>
            </a:pPr>
            <a:r>
              <a:t>• Sanitized currency strings by stripping '$' and commas into DECIMAL values.</a:t>
            </a:r>
          </a:p>
          <a:p>
            <a:pPr>
              <a:spcBef>
                <a:spcPts val="1000"/>
              </a:spcBef>
              <a:defRPr sz="1200">
                <a:solidFill>
                  <a:srgbClr val="556270"/>
                </a:solidFill>
              </a:defRPr>
            </a:pPr>
            <a:r>
              <a:t>• Used STR_TO_DATE() to transform variable date formats into ISO standard.</a:t>
            </a:r>
          </a:p>
          <a:p>
            <a:pPr>
              <a:spcBef>
                <a:spcPts val="1000"/>
              </a:spcBef>
              <a:defRPr sz="1200">
                <a:solidFill>
                  <a:srgbClr val="556270"/>
                </a:solidFill>
              </a:defRPr>
            </a:pPr>
            <a:r>
              <a:t>• Preserved NULL values in Delivery_Date to identify pending orders.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0" y="1463040"/>
            <a:ext cx="530352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365760" rIns="365760" bIns="365760" rtlCol="0" anchor="ctr"/>
          <a:lstStyle/>
          <a:p>
            <a:pPr algn="ctr">
              <a:defRPr sz="1800" b="1">
                <a:solidFill>
                  <a:srgbClr val="123B5D"/>
                </a:solidFill>
              </a:defRPr>
            </a:pPr>
            <a:r>
              <a:t>SQL Ingestion Sample</a:t>
            </a:r>
          </a:p>
          <a:p>
            <a:pPr>
              <a:spcBef>
                <a:spcPts val="800"/>
              </a:spcBef>
              <a:defRPr sz="1100">
                <a:solidFill>
                  <a:srgbClr val="1976D2"/>
                </a:solidFill>
              </a:defRPr>
            </a:pPr>
            <a:r>
              <a:t>LOAD DATA INFILE '.../Products.csv'</a:t>
            </a:r>
            <a:br/>
            <a:r>
              <a:t>INTO TABLE products</a:t>
            </a:r>
            <a:br/>
            <a:r>
              <a:t>CHARACTER SET latin1</a:t>
            </a:r>
            <a:br/>
            <a:r>
              <a:t>FIELDS TERMINATED BY ',' ENCLOSED BY '"'</a:t>
            </a:r>
            <a:br/>
            <a:r>
              <a:t>LINES TERMINATED BY '\r\n' IGNORE 1 ROWS</a:t>
            </a:r>
            <a:br/>
            <a:r>
              <a:t>(</a:t>
            </a:r>
            <a:br/>
            <a:r>
              <a:t>  ProductKey, Product_Name, Brand, Color,</a:t>
            </a:r>
            <a:br/>
            <a:r>
              <a:t>  @Cost, @Price, SubcategoryKey, Subcategory,</a:t>
            </a:r>
            <a:br/>
            <a:r>
              <a:t>  CategoryKey, Category</a:t>
            </a:r>
            <a:br/>
            <a:r>
              <a:t>)</a:t>
            </a:r>
            <a:br/>
            <a:r>
              <a:t>SET</a:t>
            </a:r>
            <a:br/>
            <a:r>
              <a:t>  Unit_Cost_USD  = REPLACE(REPLACE(@Cost, '$', ''), ',', ''),</a:t>
            </a:r>
            <a:br/>
            <a:r>
              <a:t>  Unit_Price_USD = REPLACE(REPLACE(@Price, '$', ''), ',', '');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976D2"/>
                </a:solidFill>
              </a:defRPr>
            </a:pPr>
            <a:r>
              <a:t>GLOBAL ELECTRONICS RETAIL DASHBOARD</a:t>
            </a:r>
          </a:p>
          <a:p>
            <a:pPr>
              <a:defRPr sz="2400" b="1">
                <a:solidFill>
                  <a:srgbClr val="123B5D"/>
                </a:solidFill>
              </a:defRPr>
            </a:pPr>
            <a:r>
              <a:t>Power BI Modeling &amp; Analytical DAX Measures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365760" rIns="365760" bIns="365760" rtlCol="0" anchor="ctr"/>
          <a:lstStyle/>
          <a:p>
            <a:pPr algn="ctr">
              <a:defRPr sz="1800" b="1">
                <a:solidFill>
                  <a:srgbClr val="123B5D"/>
                </a:solidFill>
              </a:defRPr>
            </a:pPr>
            <a:r>
              <a:t>Centralized DAX Repository</a:t>
            </a:r>
          </a:p>
          <a:p>
            <a:pPr>
              <a:spcBef>
                <a:spcPts val="800"/>
              </a:spcBef>
              <a:defRPr sz="1300">
                <a:solidFill>
                  <a:srgbClr val="556270"/>
                </a:solidFill>
              </a:defRPr>
            </a:pPr>
            <a:r>
              <a:t>Created an isolated _All_Measures table containing all KPIs:</a:t>
            </a:r>
          </a:p>
          <a:p>
            <a:pPr>
              <a:spcBef>
                <a:spcPts val="600"/>
              </a:spcBef>
              <a:defRPr sz="1100">
                <a:solidFill>
                  <a:srgbClr val="556270"/>
                </a:solidFill>
              </a:defRPr>
            </a:pPr>
            <a:r>
              <a:t>• Total Revenue: SUMX over Sales with RELATED(Price)</a:t>
            </a:r>
          </a:p>
          <a:p>
            <a:pPr>
              <a:spcBef>
                <a:spcPts val="600"/>
              </a:spcBef>
              <a:defRPr sz="1100">
                <a:solidFill>
                  <a:srgbClr val="556270"/>
                </a:solidFill>
              </a:defRPr>
            </a:pPr>
            <a:r>
              <a:t>• Total Cost: SUMX over Sales with RELATED(Cost)</a:t>
            </a:r>
          </a:p>
          <a:p>
            <a:pPr>
              <a:spcBef>
                <a:spcPts val="600"/>
              </a:spcBef>
              <a:defRPr sz="1100">
                <a:solidFill>
                  <a:srgbClr val="556270"/>
                </a:solidFill>
              </a:defRPr>
            </a:pPr>
            <a:r>
              <a:t>• Total Profit: [Total Revenue] - [Total Cost]</a:t>
            </a:r>
          </a:p>
          <a:p>
            <a:pPr>
              <a:spcBef>
                <a:spcPts val="600"/>
              </a:spcBef>
              <a:defRPr sz="1100">
                <a:solidFill>
                  <a:srgbClr val="556270"/>
                </a:solidFill>
              </a:defRPr>
            </a:pPr>
            <a:r>
              <a:t>• Profit Margin %: DIVIDE([Total Profit], [Total Revenue], 0)</a:t>
            </a:r>
          </a:p>
          <a:p>
            <a:pPr>
              <a:spcBef>
                <a:spcPts val="600"/>
              </a:spcBef>
              <a:defRPr sz="1100">
                <a:solidFill>
                  <a:srgbClr val="556270"/>
                </a:solidFill>
              </a:defRPr>
            </a:pPr>
            <a:r>
              <a:t>• Total Quantity: SUM('global_electronics sales'[Quantity])</a:t>
            </a:r>
          </a:p>
          <a:p>
            <a:pPr>
              <a:spcBef>
                <a:spcPts val="600"/>
              </a:spcBef>
              <a:defRPr sz="1100">
                <a:solidFill>
                  <a:srgbClr val="556270"/>
                </a:solidFill>
              </a:defRPr>
            </a:pPr>
            <a:r>
              <a:t>• Total Orders: DISTINCTCOUNT(Order_Number)</a:t>
            </a:r>
          </a:p>
          <a:p>
            <a:pPr>
              <a:spcBef>
                <a:spcPts val="600"/>
              </a:spcBef>
              <a:defRPr sz="1100">
                <a:solidFill>
                  <a:srgbClr val="556270"/>
                </a:solidFill>
              </a:defRPr>
            </a:pPr>
            <a:r>
              <a:t>• Total Customers: DISTINCTCOUNT(CustomerKey)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0" y="1463040"/>
            <a:ext cx="530352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365760" rIns="365760" bIns="365760" rtlCol="0" anchor="ctr"/>
          <a:lstStyle/>
          <a:p>
            <a:pPr algn="ctr">
              <a:defRPr sz="1800" b="1">
                <a:solidFill>
                  <a:srgbClr val="123B5D"/>
                </a:solidFill>
              </a:defRPr>
            </a:pPr>
            <a:r>
              <a:t>Key DAX Implementations</a:t>
            </a:r>
          </a:p>
          <a:p>
            <a:pPr>
              <a:spcBef>
                <a:spcPts val="1000"/>
              </a:spcBef>
              <a:defRPr sz="1200">
                <a:solidFill>
                  <a:srgbClr val="1976D2"/>
                </a:solidFill>
              </a:defRPr>
            </a:pPr>
            <a:r>
              <a:t>Total Revenue =</a:t>
            </a:r>
            <a:br/>
            <a:r>
              <a:t>SUMX(</a:t>
            </a:r>
            <a:br/>
            <a:r>
              <a:t>    'global_electronics sales',</a:t>
            </a:r>
            <a:br/>
            <a:r>
              <a:t>    'global_electronics sales'[Quantity] *</a:t>
            </a:r>
            <a:br/>
            <a:r>
              <a:t>    RELATED('global_electronics products'[Unit_Price_USD])</a:t>
            </a:r>
            <a:br/>
            <a:r>
              <a:t>)</a:t>
            </a:r>
            <a:br/>
            <a:br/>
            <a:r>
              <a:t>Profit Margin % =</a:t>
            </a:r>
            <a:br/>
            <a:r>
              <a:t>DIVIDE(</a:t>
            </a:r>
            <a:br/>
            <a:r>
              <a:t>    [Total Profit],</a:t>
            </a:r>
            <a:br/>
            <a:r>
              <a:t>    [Total Revenue],</a:t>
            </a:r>
            <a:br/>
            <a:r>
              <a:t>    0</a:t>
            </a:r>
            <a:br/>
            <a:r>
              <a:t>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976D2"/>
                </a:solidFill>
              </a:defRPr>
            </a:pPr>
            <a:r>
              <a:t>GLOBAL ELECTRONICS RETAIL DASHBOARD</a:t>
            </a:r>
          </a:p>
          <a:p>
            <a:pPr>
              <a:defRPr sz="2400" b="1">
                <a:solidFill>
                  <a:srgbClr val="123B5D"/>
                </a:solidFill>
              </a:defRPr>
            </a:pPr>
            <a:r>
              <a:t>Dashboard Page 1: Executive Overview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051560"/>
            <a:ext cx="169164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37160" rtlCol="0" anchor="ctr"/>
          <a:lstStyle/>
          <a:p>
            <a:pPr algn="ctr">
              <a:defRPr sz="1000">
                <a:solidFill>
                  <a:srgbClr val="556270"/>
                </a:solidFill>
              </a:defRPr>
            </a:pPr>
            <a:r>
              <a:t>Total Revenue</a:t>
            </a:r>
          </a:p>
          <a:p>
            <a:pPr algn="ctr">
              <a:defRPr sz="1600" b="1">
                <a:solidFill>
                  <a:srgbClr val="1976D2"/>
                </a:solidFill>
              </a:defRPr>
            </a:pPr>
            <a:r>
              <a:t>$55.76M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514600" y="1051560"/>
            <a:ext cx="169164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37160" rtlCol="0" anchor="ctr"/>
          <a:lstStyle/>
          <a:p>
            <a:pPr algn="ctr">
              <a:defRPr sz="1000">
                <a:solidFill>
                  <a:srgbClr val="556270"/>
                </a:solidFill>
              </a:defRPr>
            </a:pPr>
            <a:r>
              <a:t>Total Profit</a:t>
            </a:r>
          </a:p>
          <a:p>
            <a:pPr algn="ctr">
              <a:defRPr sz="1600" b="1">
                <a:solidFill>
                  <a:srgbClr val="2E8B57"/>
                </a:solidFill>
              </a:defRPr>
            </a:pPr>
            <a:r>
              <a:t>$32.66M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97678" y="1051560"/>
            <a:ext cx="169164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37160" rtlCol="0" anchor="ctr"/>
          <a:lstStyle/>
          <a:p>
            <a:pPr algn="ctr">
              <a:defRPr sz="1000">
                <a:solidFill>
                  <a:srgbClr val="556270"/>
                </a:solidFill>
              </a:defRPr>
            </a:pPr>
            <a:r>
              <a:t>Profit Margin</a:t>
            </a:r>
          </a:p>
          <a:p>
            <a:pPr algn="ctr">
              <a:defRPr sz="1600" b="1">
                <a:solidFill>
                  <a:srgbClr val="2E8B57"/>
                </a:solidFill>
              </a:defRPr>
            </a:pPr>
            <a:r>
              <a:t>58.58%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96000" y="1051560"/>
            <a:ext cx="169164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37160" rtlCol="0" anchor="ctr"/>
          <a:lstStyle/>
          <a:p>
            <a:pPr algn="ctr">
              <a:defRPr sz="1000">
                <a:solidFill>
                  <a:srgbClr val="556270"/>
                </a:solidFill>
              </a:defRPr>
            </a:pPr>
            <a:r>
              <a:t>Total Orders</a:t>
            </a:r>
          </a:p>
          <a:p>
            <a:pPr algn="ctr">
              <a:defRPr sz="1600" b="1">
                <a:solidFill>
                  <a:srgbClr val="123B5D"/>
                </a:solidFill>
              </a:defRPr>
            </a:pPr>
            <a:r>
              <a:t>26K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94322" y="1051560"/>
            <a:ext cx="169164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37160" rtlCol="0" anchor="ctr"/>
          <a:lstStyle/>
          <a:p>
            <a:pPr algn="ctr">
              <a:defRPr sz="1000">
                <a:solidFill>
                  <a:srgbClr val="556270"/>
                </a:solidFill>
              </a:defRPr>
            </a:pPr>
            <a:r>
              <a:t>Customers</a:t>
            </a:r>
          </a:p>
          <a:p>
            <a:pPr algn="ctr">
              <a:defRPr sz="1600" b="1">
                <a:solidFill>
                  <a:srgbClr val="123B5D"/>
                </a:solidFill>
              </a:defRPr>
            </a:pPr>
            <a:r>
              <a:t>12K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768840" y="1051560"/>
            <a:ext cx="169164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37160" rtlCol="0" anchor="ctr"/>
          <a:lstStyle/>
          <a:p>
            <a:pPr algn="ctr">
              <a:defRPr sz="1000">
                <a:solidFill>
                  <a:srgbClr val="556270"/>
                </a:solidFill>
              </a:defRPr>
            </a:pPr>
            <a:r>
              <a:t>Quantity Sold</a:t>
            </a:r>
          </a:p>
          <a:p>
            <a:pPr algn="ctr">
              <a:defRPr sz="1600" b="1">
                <a:solidFill>
                  <a:srgbClr val="123B5D"/>
                </a:solidFill>
              </a:defRPr>
            </a:pPr>
            <a:r>
              <a:t>198K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834640"/>
            <a:ext cx="1069848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365760" rIns="365760" bIns="365760" rtlCol="0" anchor="ctr"/>
          <a:lstStyle/>
          <a:p>
            <a:pPr algn="ctr">
              <a:defRPr sz="1800" b="1">
                <a:solidFill>
                  <a:srgbClr val="123B5D"/>
                </a:solidFill>
              </a:defRPr>
            </a:pPr>
            <a:r>
              <a:t>Executive Highlights</a:t>
            </a:r>
          </a:p>
          <a:p>
            <a:pPr>
              <a:spcBef>
                <a:spcPts val="800"/>
              </a:spcBef>
              <a:defRPr sz="1300">
                <a:solidFill>
                  <a:srgbClr val="556270"/>
                </a:solidFill>
              </a:defRPr>
            </a:pPr>
            <a:r>
              <a:t>• Revenue &amp; Profit Peak: Performance peaked in 2019 at $18M Revenue and $11M Profit.</a:t>
            </a:r>
          </a:p>
          <a:p>
            <a:pPr>
              <a:spcBef>
                <a:spcPts val="800"/>
              </a:spcBef>
              <a:defRPr sz="1300">
                <a:solidFill>
                  <a:srgbClr val="556270"/>
                </a:solidFill>
              </a:defRPr>
            </a:pPr>
            <a:r>
              <a:t>• Category Leaders: Computers generated ~$20M in Revenue, followed by Home Appliances at ~$11M.</a:t>
            </a:r>
          </a:p>
          <a:p>
            <a:pPr>
              <a:spcBef>
                <a:spcPts val="800"/>
              </a:spcBef>
              <a:defRPr sz="1300">
                <a:solidFill>
                  <a:srgbClr val="556270"/>
                </a:solidFill>
              </a:defRPr>
            </a:pPr>
            <a:r>
              <a:t>• Geographic Outliers: United States accounts for $23.8M of retail sales; the Online store drove $11.4M.</a:t>
            </a:r>
          </a:p>
          <a:p>
            <a:pPr>
              <a:spcBef>
                <a:spcPts val="800"/>
              </a:spcBef>
              <a:defRPr sz="1300">
                <a:solidFill>
                  <a:srgbClr val="556270"/>
                </a:solidFill>
              </a:defRPr>
            </a:pPr>
            <a:r>
              <a:t>• Interactive Filtering: Country &amp; Category slicers allow dynamic cross-filtering across all visuals.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C865DFDA-9A1E-4987-60DC-0DAA150083D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4695" b="5334"/>
          <a:stretch>
            <a:fillRect/>
          </a:stretch>
        </p:blipFill>
        <p:spPr>
          <a:xfrm>
            <a:off x="3637200" y="2214225"/>
            <a:ext cx="5102942" cy="148909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976D2"/>
                </a:solidFill>
              </a:defRPr>
            </a:pPr>
            <a:r>
              <a:t>GLOBAL ELECTRONICS RETAIL DASHBOARD</a:t>
            </a:r>
          </a:p>
          <a:p>
            <a:pPr>
              <a:defRPr sz="2400" b="1">
                <a:solidFill>
                  <a:srgbClr val="123B5D"/>
                </a:solidFill>
              </a:defRPr>
            </a:pPr>
            <a:r>
              <a:t>Dashboard Pages 2 &amp; 3: Product &amp; Customer Analytics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365760" rIns="365760" bIns="365760" rtlCol="0" anchor="ctr"/>
          <a:lstStyle/>
          <a:p>
            <a:pPr algn="ctr">
              <a:defRPr sz="1800" b="1">
                <a:solidFill>
                  <a:srgbClr val="123B5D"/>
                </a:solidFill>
              </a:defRPr>
            </a:pPr>
            <a:r>
              <a:t>Product Performance</a:t>
            </a:r>
          </a:p>
          <a:p>
            <a:pPr>
              <a:spcBef>
                <a:spcPts val="800"/>
              </a:spcBef>
              <a:defRPr sz="1200">
                <a:solidFill>
                  <a:srgbClr val="556270"/>
                </a:solidFill>
              </a:defRPr>
            </a:pPr>
            <a:r>
              <a:t>• Top Revenue Drivers: Desktop PCs (e.g., Adventure Works Desktop PC models) led gross dollar earnings.</a:t>
            </a:r>
          </a:p>
          <a:p>
            <a:pPr>
              <a:spcBef>
                <a:spcPts val="800"/>
              </a:spcBef>
              <a:defRPr sz="1200">
                <a:solidFill>
                  <a:srgbClr val="556270"/>
                </a:solidFill>
              </a:defRPr>
            </a:pPr>
            <a:r>
              <a:t>• Volume Leaders: Compact accessories generated high transaction counts with lower gross ticket prices.</a:t>
            </a:r>
          </a:p>
          <a:p>
            <a:pPr>
              <a:spcBef>
                <a:spcPts val="800"/>
              </a:spcBef>
              <a:defRPr sz="1200">
                <a:solidFill>
                  <a:srgbClr val="556270"/>
                </a:solidFill>
              </a:defRPr>
            </a:pPr>
            <a:r>
              <a:t>• Category Contribution: Computers contributed over 35% of total sales revenue.</a:t>
            </a:r>
          </a:p>
          <a:p>
            <a:pPr>
              <a:spcBef>
                <a:spcPts val="800"/>
              </a:spcBef>
              <a:defRPr sz="1200">
                <a:solidFill>
                  <a:srgbClr val="556270"/>
                </a:solidFill>
              </a:defRPr>
            </a:pPr>
            <a:r>
              <a:t>• Brand Profitability: Contoso and Adventure Works drove the highest net profit contributions.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365760" rIns="365760" bIns="365760" rtlCol="0" anchor="ctr"/>
          <a:lstStyle/>
          <a:p>
            <a:pPr algn="ctr">
              <a:defRPr sz="1800" b="1">
                <a:solidFill>
                  <a:srgbClr val="123B5D"/>
                </a:solidFill>
              </a:defRPr>
            </a:pPr>
            <a:r>
              <a:t>Customer Demographics</a:t>
            </a:r>
          </a:p>
          <a:p>
            <a:pPr>
              <a:spcBef>
                <a:spcPts val="800"/>
              </a:spcBef>
              <a:defRPr sz="1200">
                <a:solidFill>
                  <a:srgbClr val="556270"/>
                </a:solidFill>
              </a:defRPr>
            </a:pPr>
            <a:r>
              <a:t>• Geographic Concentration: United States ($29.9M), United Kingdom ($7.1M), and Germany ($5.4M).</a:t>
            </a:r>
          </a:p>
          <a:p>
            <a:pPr>
              <a:spcBef>
                <a:spcPts val="800"/>
              </a:spcBef>
              <a:defRPr sz="1200">
                <a:solidFill>
                  <a:srgbClr val="556270"/>
                </a:solidFill>
              </a:defRPr>
            </a:pPr>
            <a:r>
              <a:t>• Gender Split: Balanced distribution: 50.82% Female ($28.33M) vs 49.18% Male ($27.42M).</a:t>
            </a:r>
          </a:p>
          <a:p>
            <a:pPr>
              <a:spcBef>
                <a:spcPts val="800"/>
              </a:spcBef>
              <a:defRPr sz="1200">
                <a:solidFill>
                  <a:srgbClr val="556270"/>
                </a:solidFill>
              </a:defRPr>
            </a:pPr>
            <a:r>
              <a:t>• High-Value Accounts: Top individual customers generated up to $62K in lifetime gross orders.</a:t>
            </a:r>
          </a:p>
          <a:p>
            <a:pPr>
              <a:spcBef>
                <a:spcPts val="800"/>
              </a:spcBef>
              <a:defRPr sz="1200">
                <a:solidFill>
                  <a:srgbClr val="556270"/>
                </a:solidFill>
              </a:defRPr>
            </a:pPr>
            <a:r>
              <a:t>• Demographic Spread: Over 12,000 unique purchasing customers active across 4 primary continents.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11F0DAC-FDB6-E3DF-E94A-C9FB21B7E81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791" t="15588" r="27258" b="6042"/>
          <a:stretch>
            <a:fillRect/>
          </a:stretch>
        </p:blipFill>
        <p:spPr>
          <a:xfrm>
            <a:off x="1754566" y="1039270"/>
            <a:ext cx="3074547" cy="173900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E028958-3E64-C08A-6287-20C4C186D24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023" r="8227" b="6734"/>
          <a:stretch>
            <a:fillRect/>
          </a:stretch>
        </p:blipFill>
        <p:spPr>
          <a:xfrm>
            <a:off x="7362889" y="1039270"/>
            <a:ext cx="3074548" cy="169542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976D2"/>
                </a:solidFill>
              </a:defRPr>
            </a:pPr>
            <a:r>
              <a:t>GLOBAL ELECTRONICS RETAIL DASHBOARD</a:t>
            </a:r>
          </a:p>
          <a:p>
            <a:pPr>
              <a:defRPr sz="2400" b="1">
                <a:solidFill>
                  <a:srgbClr val="123B5D"/>
                </a:solidFill>
              </a:defRPr>
            </a:pPr>
            <a:r>
              <a:t>Dashboard Page 4: Store &amp; Footprint Performance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106984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365760" rIns="365760" bIns="365760" rtlCol="0" anchor="ctr"/>
          <a:lstStyle/>
          <a:p>
            <a:pPr algn="ctr">
              <a:defRPr sz="1800" b="1">
                <a:solidFill>
                  <a:srgbClr val="123B5D"/>
                </a:solidFill>
              </a:defRPr>
            </a:pPr>
            <a:r>
              <a:rPr dirty="0"/>
              <a:t>Physical Store Insights &amp; Operations</a:t>
            </a:r>
          </a:p>
          <a:p>
            <a:pPr>
              <a:spcBef>
                <a:spcPts val="1000"/>
              </a:spcBef>
              <a:defRPr sz="1300">
                <a:solidFill>
                  <a:srgbClr val="556270"/>
                </a:solidFill>
              </a:defRPr>
            </a:pPr>
            <a:r>
              <a:rPr lang="en-US" dirty="0"/>
              <a:t>• Online Channel Dominance: </a:t>
            </a:r>
            <a:r>
              <a:rPr lang="en-US" dirty="0" err="1"/>
              <a:t>StoreKey</a:t>
            </a:r>
            <a:r>
              <a:rPr lang="en-US" dirty="0"/>
              <a:t> 0 (Online Store) is the single highest individual outlet, generating $11.4M.</a:t>
            </a:r>
          </a:p>
          <a:p>
            <a:pPr>
              <a:spcBef>
                <a:spcPts val="1000"/>
              </a:spcBef>
              <a:defRPr sz="1300">
                <a:solidFill>
                  <a:srgbClr val="556270"/>
                </a:solidFill>
              </a:defRPr>
            </a:pPr>
            <a:r>
              <a:rPr lang="en-US" dirty="0"/>
              <a:t>• Store Size vs Revenue Correlation: Scatter analysis showed that store size (Square Meters) does not directly drive revenue; geographic location density is the primary performance factor.</a:t>
            </a:r>
          </a:p>
          <a:p>
            <a:pPr>
              <a:spcBef>
                <a:spcPts val="1000"/>
              </a:spcBef>
              <a:defRPr sz="1300">
                <a:solidFill>
                  <a:srgbClr val="556270"/>
                </a:solidFill>
              </a:defRPr>
            </a:pPr>
            <a:r>
              <a:rPr lang="en-US" dirty="0"/>
              <a:t>• Opening Cohort Analysis: Stores launched during the 2010 expansion cycle delivered the highest historical revenue ($19M).</a:t>
            </a:r>
          </a:p>
          <a:p>
            <a:pPr>
              <a:spcBef>
                <a:spcPts val="1000"/>
              </a:spcBef>
              <a:defRPr sz="1300">
                <a:solidFill>
                  <a:srgbClr val="556270"/>
                </a:solidFill>
              </a:defRPr>
            </a:pPr>
            <a:r>
              <a:rPr lang="en-US" dirty="0"/>
              <a:t>• Store Network Scale: 67 retail locations distributed across North America, Europe, and Australia.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66E51B0-BFDF-BBF4-07D7-8E653E641F9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216" r="5241" b="5334"/>
          <a:stretch>
            <a:fillRect/>
          </a:stretch>
        </p:blipFill>
        <p:spPr>
          <a:xfrm>
            <a:off x="4365522" y="918802"/>
            <a:ext cx="3460955" cy="202057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976D2"/>
                </a:solidFill>
              </a:defRPr>
            </a:pPr>
            <a:r>
              <a:t>GLOBAL ELECTRONICS RETAIL DASHBOARD</a:t>
            </a:r>
          </a:p>
          <a:p>
            <a:pPr>
              <a:defRPr sz="2400" b="1">
                <a:solidFill>
                  <a:srgbClr val="123B5D"/>
                </a:solidFill>
              </a:defRPr>
            </a:pPr>
            <a:r>
              <a:t>Key Business Insights &amp; Findings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512064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Ins="274320" bIns="274320" rtlCol="0" anchor="ctr"/>
          <a:lstStyle/>
          <a:p>
            <a:pPr algn="ctr">
              <a:defRPr sz="1200" b="1">
                <a:solidFill>
                  <a:srgbClr val="1976D2"/>
                </a:solidFill>
              </a:defRPr>
            </a:pPr>
            <a:r>
              <a:t>01. Dominant Category</a:t>
            </a:r>
          </a:p>
          <a:p>
            <a:pPr>
              <a:spcBef>
                <a:spcPts val="400"/>
              </a:spcBef>
              <a:defRPr sz="1700" b="1">
                <a:solidFill>
                  <a:srgbClr val="123B5D"/>
                </a:solidFill>
              </a:defRPr>
            </a:pPr>
            <a:r>
              <a:t>Computers</a:t>
            </a:r>
          </a:p>
          <a:p>
            <a:pPr>
              <a:spcBef>
                <a:spcPts val="400"/>
              </a:spcBef>
              <a:defRPr sz="1100">
                <a:solidFill>
                  <a:srgbClr val="556270"/>
                </a:solidFill>
              </a:defRPr>
            </a:pPr>
            <a:r>
              <a:t>Generated ~$20M Revenue and ~$10M Profit, making it the primary financial pillar.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0" y="1463040"/>
            <a:ext cx="512064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Ins="274320" bIns="274320" rtlCol="0" anchor="ctr"/>
          <a:lstStyle/>
          <a:p>
            <a:pPr algn="ctr">
              <a:defRPr sz="1200" b="1">
                <a:solidFill>
                  <a:srgbClr val="1976D2"/>
                </a:solidFill>
              </a:defRPr>
            </a:pPr>
            <a:r>
              <a:t>02. Robust Profit Margin</a:t>
            </a:r>
          </a:p>
          <a:p>
            <a:pPr>
              <a:spcBef>
                <a:spcPts val="400"/>
              </a:spcBef>
              <a:defRPr sz="1700" b="1">
                <a:solidFill>
                  <a:srgbClr val="123B5D"/>
                </a:solidFill>
              </a:defRPr>
            </a:pPr>
            <a:r>
              <a:t>58.58% Overall</a:t>
            </a:r>
          </a:p>
          <a:p>
            <a:pPr>
              <a:spcBef>
                <a:spcPts val="400"/>
              </a:spcBef>
              <a:defRPr sz="1100">
                <a:solidFill>
                  <a:srgbClr val="556270"/>
                </a:solidFill>
              </a:defRPr>
            </a:pPr>
            <a:r>
              <a:t>Maintained healthy commercial margins through disciplined wholesale purchasing.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840480"/>
            <a:ext cx="512064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Ins="274320" bIns="274320" rtlCol="0" anchor="ctr"/>
          <a:lstStyle/>
          <a:p>
            <a:pPr algn="ctr">
              <a:defRPr sz="1200" b="1">
                <a:solidFill>
                  <a:srgbClr val="1976D2"/>
                </a:solidFill>
              </a:defRPr>
            </a:pPr>
            <a:r>
              <a:t>03. Primary Geographic Market</a:t>
            </a:r>
          </a:p>
          <a:p>
            <a:pPr>
              <a:spcBef>
                <a:spcPts val="400"/>
              </a:spcBef>
              <a:defRPr sz="1700" b="1">
                <a:solidFill>
                  <a:srgbClr val="123B5D"/>
                </a:solidFill>
              </a:defRPr>
            </a:pPr>
            <a:r>
              <a:t>United States</a:t>
            </a:r>
          </a:p>
          <a:p>
            <a:pPr>
              <a:spcBef>
                <a:spcPts val="400"/>
              </a:spcBef>
              <a:defRPr sz="1100">
                <a:solidFill>
                  <a:srgbClr val="556270"/>
                </a:solidFill>
              </a:defRPr>
            </a:pPr>
            <a:r>
              <a:t>Produced $29.9M in customer purchases, outpacing all other international territories.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3840480"/>
            <a:ext cx="512064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Ins="274320" bIns="274320" rtlCol="0" anchor="ctr"/>
          <a:lstStyle/>
          <a:p>
            <a:pPr algn="ctr">
              <a:defRPr sz="1200" b="1">
                <a:solidFill>
                  <a:srgbClr val="1976D2"/>
                </a:solidFill>
              </a:defRPr>
            </a:pPr>
            <a:r>
              <a:t>04. Top Performing Channel</a:t>
            </a:r>
          </a:p>
          <a:p>
            <a:pPr>
              <a:spcBef>
                <a:spcPts val="400"/>
              </a:spcBef>
              <a:defRPr sz="1700" b="1">
                <a:solidFill>
                  <a:srgbClr val="123B5D"/>
                </a:solidFill>
              </a:defRPr>
            </a:pPr>
            <a:r>
              <a:t>Online Direct ($11.4M)</a:t>
            </a:r>
          </a:p>
          <a:p>
            <a:pPr>
              <a:spcBef>
                <a:spcPts val="400"/>
              </a:spcBef>
              <a:defRPr sz="1100">
                <a:solidFill>
                  <a:srgbClr val="556270"/>
                </a:solidFill>
              </a:defRPr>
            </a:pPr>
            <a:r>
              <a:t>The digital storefront generated significantly more revenue than any single brick-and-mortar outlet.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976D2"/>
                </a:solidFill>
              </a:defRPr>
            </a:pPr>
            <a:r>
              <a:t>GLOBAL ELECTRONICS RETAIL DASHBOARD</a:t>
            </a:r>
          </a:p>
          <a:p>
            <a:pPr>
              <a:defRPr sz="2400" b="1">
                <a:solidFill>
                  <a:srgbClr val="123B5D"/>
                </a:solidFill>
              </a:defRPr>
            </a:pPr>
            <a:r>
              <a:t>Conclusion &amp; Future Enhancements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365760" rIns="365760" bIns="365760" rtlCol="0" anchor="ctr"/>
          <a:lstStyle/>
          <a:p>
            <a:pPr algn="ctr">
              <a:defRPr sz="1800" b="1">
                <a:solidFill>
                  <a:srgbClr val="123B5D"/>
                </a:solidFill>
              </a:defRPr>
            </a:pPr>
            <a:r>
              <a:t>Project Summary</a:t>
            </a:r>
          </a:p>
          <a:p>
            <a:pPr>
              <a:spcBef>
                <a:spcPts val="1200"/>
              </a:spcBef>
              <a:defRPr sz="1300">
                <a:solidFill>
                  <a:srgbClr val="556270"/>
                </a:solidFill>
              </a:defRPr>
            </a:pPr>
            <a:r>
              <a:t>Successfully unified fragmented retail data into an analytical Star Schema, delivering self-service analytics with automated financial KPIs and geographic drill-downs.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365760" rIns="365760" bIns="365760" rtlCol="0" anchor="ctr"/>
          <a:lstStyle/>
          <a:p>
            <a:pPr algn="ctr">
              <a:defRPr sz="1800" b="1">
                <a:solidFill>
                  <a:srgbClr val="123B5D"/>
                </a:solidFill>
              </a:defRPr>
            </a:pPr>
            <a:r>
              <a:t>Future Scope</a:t>
            </a:r>
          </a:p>
          <a:p>
            <a:pPr>
              <a:spcBef>
                <a:spcPts val="800"/>
              </a:spcBef>
              <a:defRPr sz="1200">
                <a:solidFill>
                  <a:srgbClr val="556270"/>
                </a:solidFill>
              </a:defRPr>
            </a:pPr>
            <a:r>
              <a:t>• Predictive Demand Forecasting using Python &amp; Time-Series algorithms.</a:t>
            </a:r>
          </a:p>
          <a:p>
            <a:pPr>
              <a:spcBef>
                <a:spcPts val="800"/>
              </a:spcBef>
              <a:defRPr sz="1200">
                <a:solidFill>
                  <a:srgbClr val="556270"/>
                </a:solidFill>
              </a:defRPr>
            </a:pPr>
            <a:r>
              <a:t>• RFM (Recency, Frequency, Monetary) Customer Segmentation via DAX.</a:t>
            </a:r>
          </a:p>
          <a:p>
            <a:pPr>
              <a:spcBef>
                <a:spcPts val="800"/>
              </a:spcBef>
              <a:defRPr sz="1200">
                <a:solidFill>
                  <a:srgbClr val="556270"/>
                </a:solidFill>
              </a:defRPr>
            </a:pPr>
            <a:r>
              <a:t>• Automated Data Refresh via Microsoft On-premises Gateway.</a:t>
            </a:r>
          </a:p>
          <a:p>
            <a:pPr>
              <a:spcBef>
                <a:spcPts val="800"/>
              </a:spcBef>
              <a:defRPr sz="1200">
                <a:solidFill>
                  <a:srgbClr val="556270"/>
                </a:solidFill>
              </a:defRPr>
            </a:pPr>
            <a:r>
              <a:t>• Inventory Stockout &amp; Buffer Reorder Alerts.</a:t>
            </a:r>
          </a:p>
          <a:p>
            <a:br/>
            <a:r>
              <a:t>GitHub: github.com/Nithish-G/global-electronics-sales-dashboard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xis">
  <a:themeElements>
    <a:clrScheme name="Southwestern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A8BABF"/>
      </a:accent1>
      <a:accent2>
        <a:srgbClr val="C16A38"/>
      </a:accent2>
      <a:accent3>
        <a:srgbClr val="7B441F"/>
      </a:accent3>
      <a:accent4>
        <a:srgbClr val="DAC68B"/>
      </a:accent4>
      <a:accent5>
        <a:srgbClr val="B6BAA5"/>
      </a:accent5>
      <a:accent6>
        <a:srgbClr val="716C34"/>
      </a:accent6>
      <a:hlink>
        <a:srgbClr val="467886"/>
      </a:hlink>
      <a:folHlink>
        <a:srgbClr val="96607D"/>
      </a:folHlink>
    </a:clrScheme>
    <a:fontScheme name="Custom 13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xis" id="{2A75EA04-0AE5-4074-9538-7DA6C138DAE9}" vid="{E39B6906-D52F-4B95-B43C-27F512CB479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61</TotalTime>
  <Words>1353</Words>
  <Application>Microsoft Office PowerPoint</Application>
  <PresentationFormat>Widescreen</PresentationFormat>
  <Paragraphs>156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Neue Haas Grotesk Text Pro</vt:lpstr>
      <vt:lpstr>Axis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Nithish G</dc:creator>
  <cp:keywords/>
  <dc:description>generated using python-pptx</dc:description>
  <cp:lastModifiedBy>Nithish G</cp:lastModifiedBy>
  <cp:revision>3</cp:revision>
  <dcterms:created xsi:type="dcterms:W3CDTF">2013-01-27T09:14:16Z</dcterms:created>
  <dcterms:modified xsi:type="dcterms:W3CDTF">2026-10-08T06:02:34Z</dcterms:modified>
  <cp:category/>
</cp:coreProperties>
</file>